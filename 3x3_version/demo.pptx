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/>
    <p:restoredTop sz="94702"/>
  </p:normalViewPr>
  <p:slideViewPr>
    <p:cSldViewPr snapToGrid="0">
      <p:cViewPr varScale="1">
        <p:scale>
          <a:sx n="113" d="100"/>
          <a:sy n="113" d="100"/>
        </p:scale>
        <p:origin x="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046FF-EB74-3FA0-88F5-FFA3C3BC49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3DE41-8D73-1BA2-F694-F1B82BDBA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C67A9-BE6D-ACDA-F890-B3C81F857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C25E0-BEC4-2F86-5829-CD8F5D11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0D08D-4972-1312-988C-0464D762B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6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BE82E-4386-BC09-F15B-3588738DF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3C2E1-BD71-D4BB-2C9C-6841530F5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2167F-1458-6371-7EF9-7C8F057C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9BFBE-569F-AA79-177B-4A5F0C27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D5F7B-87BC-74EE-D2E6-18AA85408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43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DEEBA-70DA-70C7-6D94-84BBC7741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BBFC8-FC67-7D6A-C612-6F57648A4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9131D-75CD-E9AE-4743-3C25A1839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FF666-BEFF-AC7A-C1AE-04410C48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6B7AD-00A3-72BD-E708-5C5688D20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3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0856-6791-DDF0-3353-0607CB5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61769-89F6-57F5-CD0B-2920EAAE2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AF795-297E-7F0E-AC06-FB79165EA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6E5B3-0F6C-BB1F-5195-98B4E457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AE289-B92B-905C-538F-933A09747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5F808-7481-4A00-6A1D-24D04904D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9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28EB4-49DA-3521-DF17-570738BAE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E1BD0-B092-99CB-4111-E93911900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96703-841B-C20C-C6C7-04D220808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C7AD36-B9E2-BEF7-AE53-8971C74742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3BB64C-78C4-7734-52C1-A0793BB5BB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80AE88-1B94-1056-A5EF-6239970A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36D25-5FC3-D554-808E-D4EF32391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C24F5C-FE86-964B-DEEB-B5C8D3C70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41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C1737-057F-3AD9-A360-8E6CDE22F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F443E-AE3E-5BED-E786-53111E00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56F8A-A559-8763-4C10-2DDA0B9C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8DB325-3122-0121-F255-A63F0AA4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5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26AE4-C04B-2D18-62AD-E8C06EC6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584974-3D7F-870E-23ED-9E66AFD7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9C0B6-0731-AB50-760D-BBC8ADA3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49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78F1-4BB7-E6D9-E640-E903E7EF8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2BEA9-0AC2-CF8A-EC1C-D056523E0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B937E-39F9-7C9F-C750-99F515D7F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EEC8D-9FA5-78CA-5239-968107655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5ABF0-F1EE-61D0-40B2-6BAB9F33E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55F69-3000-DCAE-58F6-411F3B8FD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23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5DF4F-4BEB-3B72-170C-42DD11320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E339A6-D959-F1C8-F04A-4DC586C1F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E9115-5C5A-671E-487F-9B81D6534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15E21-7AA1-E138-1D9D-DC5AAFC4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195BA-2412-7756-F3DE-B367568F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DA50D-BA66-F5D0-F191-3E76F8E4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75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A2A2D-12CC-1A8A-8B33-7683531E2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A4983-8E59-CF53-93ED-C9222231D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A7EDE-3ABD-48F3-C777-AE39DA1D5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0784B-55AC-8EBA-13D2-BCE151F16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91D69-E9D7-0529-22B2-04B022197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15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0BA35-2155-F666-1996-0C2B26A42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EF28F-2B8B-A69F-E9AF-32F1FB11F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5088-D813-C886-AF44-C4F0F25B9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D0FCA-53D0-564C-86B9-6B61E7864998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CC811-3360-9A6B-AC08-07EFD77F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37F31-B08B-BE8C-ECD0-3083CAFC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74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79880F-F344-5E54-E513-6603DEC7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E53BD-478A-ABFA-7D66-DC177BB49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6E9B0-BF2B-6810-BC18-B9C96F571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1D0FCA-53D0-564C-86B9-6B61E7864998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4BB1B-0269-9F89-3048-D524C19E8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35A71-C370-4D2B-8DDD-44D328386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82002-10E1-134F-A4E4-092F54A3DE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74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hyperlink" Target="https://github.com/runyangtian/2x2_systolic_array_double_buffer/tree/main/3x3_version" TargetMode="External"/><Relationship Id="rId5" Type="http://schemas.openxmlformats.org/officeDocument/2006/relationships/image" Target="../media/image4.png"/><Relationship Id="rId10" Type="http://schemas.openxmlformats.org/officeDocument/2006/relationships/hyperlink" Target="https://github.com/runyangtian/2x2_systolic_array_double_buffer.git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BDF35162-EAEE-5D17-3872-7A87E8BDA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00" y="1892879"/>
            <a:ext cx="5762581" cy="311048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C47D646-1A37-3AE3-DC79-7D789D8C2E54}"/>
              </a:ext>
            </a:extLst>
          </p:cNvPr>
          <p:cNvSpPr txBox="1"/>
          <p:nvPr/>
        </p:nvSpPr>
        <p:spPr>
          <a:xfrm>
            <a:off x="144208" y="1556649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993C5C-17FE-5965-A358-943787F60984}"/>
              </a:ext>
            </a:extLst>
          </p:cNvPr>
          <p:cNvSpPr txBox="1"/>
          <p:nvPr/>
        </p:nvSpPr>
        <p:spPr>
          <a:xfrm>
            <a:off x="118749" y="2193750"/>
            <a:ext cx="1127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Testcase: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27EF62-6C37-0ED1-653A-EF7AF8AC6402}"/>
              </a:ext>
            </a:extLst>
          </p:cNvPr>
          <p:cNvSpPr txBox="1"/>
          <p:nvPr/>
        </p:nvSpPr>
        <p:spPr>
          <a:xfrm>
            <a:off x="95303" y="2784916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Op1: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B271A0-5975-2BB3-3E80-3AB6E8AB40A2}"/>
              </a:ext>
            </a:extLst>
          </p:cNvPr>
          <p:cNvSpPr txBox="1"/>
          <p:nvPr/>
        </p:nvSpPr>
        <p:spPr>
          <a:xfrm>
            <a:off x="80332" y="379134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Op2: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A54583-8557-7763-E2A6-C0CDD168D872}"/>
              </a:ext>
            </a:extLst>
          </p:cNvPr>
          <p:cNvSpPr txBox="1"/>
          <p:nvPr/>
        </p:nvSpPr>
        <p:spPr>
          <a:xfrm>
            <a:off x="3504523" y="2168841"/>
            <a:ext cx="1180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Expected: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E2EE5F-5E7C-D96E-9B2A-1C6C0182AA39}"/>
              </a:ext>
            </a:extLst>
          </p:cNvPr>
          <p:cNvSpPr txBox="1"/>
          <p:nvPr/>
        </p:nvSpPr>
        <p:spPr>
          <a:xfrm>
            <a:off x="4944663" y="2030342"/>
            <a:ext cx="13697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Functional Result: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1515F9-83A0-5998-771A-A66F0F55CE5C}"/>
              </a:ext>
            </a:extLst>
          </p:cNvPr>
          <p:cNvSpPr txBox="1"/>
          <p:nvPr/>
        </p:nvSpPr>
        <p:spPr>
          <a:xfrm>
            <a:off x="5096700" y="2796342"/>
            <a:ext cx="701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8A9E2B-E134-546B-8924-FA3734F1FE54}"/>
              </a:ext>
            </a:extLst>
          </p:cNvPr>
          <p:cNvSpPr txBox="1"/>
          <p:nvPr/>
        </p:nvSpPr>
        <p:spPr>
          <a:xfrm>
            <a:off x="5089985" y="3874126"/>
            <a:ext cx="701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46397A-D6E6-99CD-0A2C-D542722EC938}"/>
              </a:ext>
            </a:extLst>
          </p:cNvPr>
          <p:cNvSpPr txBox="1"/>
          <p:nvPr/>
        </p:nvSpPr>
        <p:spPr>
          <a:xfrm>
            <a:off x="144208" y="163746"/>
            <a:ext cx="8317569" cy="559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Demo for the </a:t>
            </a:r>
            <a:r>
              <a:rPr lang="en-US" altLang="zh-CN" sz="2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sz="2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sz="2800" kern="100" dirty="0">
                <a:effectLst/>
                <a:latin typeface="Arial" panose="020B06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Systolic Array with Double Buffer </a:t>
            </a:r>
            <a:endParaRPr lang="en-US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115FED-B9DF-3AD6-03AE-404E097A7CDB}"/>
              </a:ext>
            </a:extLst>
          </p:cNvPr>
          <p:cNvCxnSpPr>
            <a:cxnSpLocks/>
          </p:cNvCxnSpPr>
          <p:nvPr/>
        </p:nvCxnSpPr>
        <p:spPr>
          <a:xfrm>
            <a:off x="10584094" y="2015600"/>
            <a:ext cx="0" cy="298328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5FCE287-1774-C787-5E8A-5A3A36861E74}"/>
              </a:ext>
            </a:extLst>
          </p:cNvPr>
          <p:cNvCxnSpPr>
            <a:cxnSpLocks/>
          </p:cNvCxnSpPr>
          <p:nvPr/>
        </p:nvCxnSpPr>
        <p:spPr>
          <a:xfrm>
            <a:off x="11845972" y="2039108"/>
            <a:ext cx="0" cy="29591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742D8A-E629-FB9A-E775-3B5475327E2D}"/>
              </a:ext>
            </a:extLst>
          </p:cNvPr>
          <p:cNvSpPr txBox="1"/>
          <p:nvPr/>
        </p:nvSpPr>
        <p:spPr>
          <a:xfrm rot="5400000">
            <a:off x="9982522" y="3877127"/>
            <a:ext cx="1510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Op1 finished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018626-0FFF-8541-1A9F-82ADB5A67BF7}"/>
              </a:ext>
            </a:extLst>
          </p:cNvPr>
          <p:cNvSpPr txBox="1"/>
          <p:nvPr/>
        </p:nvSpPr>
        <p:spPr>
          <a:xfrm rot="5400000">
            <a:off x="11219094" y="3877127"/>
            <a:ext cx="1510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Op2 finished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EC3C52-30FC-F881-76DE-EF995DCB2885}"/>
              </a:ext>
            </a:extLst>
          </p:cNvPr>
          <p:cNvSpPr/>
          <p:nvPr/>
        </p:nvSpPr>
        <p:spPr>
          <a:xfrm>
            <a:off x="8923462" y="2904269"/>
            <a:ext cx="646134" cy="155781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42D6BD-04B4-7A57-99DF-E2D048077BA3}"/>
              </a:ext>
            </a:extLst>
          </p:cNvPr>
          <p:cNvSpPr txBox="1"/>
          <p:nvPr/>
        </p:nvSpPr>
        <p:spPr>
          <a:xfrm>
            <a:off x="7509068" y="3893515"/>
            <a:ext cx="16416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F0"/>
                </a:solidFill>
              </a:rPr>
              <a:t>Loading next weight matrix during Op1 computation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456AD90-E02D-101D-111C-E6589026720B}"/>
                  </a:ext>
                </a:extLst>
              </p:cNvPr>
              <p:cNvSpPr txBox="1"/>
              <p:nvPr/>
            </p:nvSpPr>
            <p:spPr>
              <a:xfrm>
                <a:off x="757071" y="2620559"/>
                <a:ext cx="892872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  <m:m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mr>
                        <m:m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456AD90-E02D-101D-111C-E65890267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71" y="2620559"/>
                <a:ext cx="892872" cy="732573"/>
              </a:xfrm>
              <a:prstGeom prst="rect">
                <a:avLst/>
              </a:prstGeom>
              <a:blipFill>
                <a:blip r:embed="rId3"/>
                <a:stretch>
                  <a:fillRect l="-5556" t="-1724" r="-4167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F63F530-4C60-9E49-0299-51B969F0D59A}"/>
                  </a:ext>
                </a:extLst>
              </p:cNvPr>
              <p:cNvSpPr txBox="1"/>
              <p:nvPr/>
            </p:nvSpPr>
            <p:spPr>
              <a:xfrm>
                <a:off x="2002728" y="2614721"/>
                <a:ext cx="892872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mr>
                        <m:m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mr>
                        <m:m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F63F530-4C60-9E49-0299-51B969F0D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2728" y="2614721"/>
                <a:ext cx="892872" cy="732573"/>
              </a:xfrm>
              <a:prstGeom prst="rect">
                <a:avLst/>
              </a:prstGeom>
              <a:blipFill>
                <a:blip r:embed="rId4"/>
                <a:stretch>
                  <a:fillRect l="-5556" r="-4167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41B0AF6-4E3B-8659-BB1E-E00FAC40E92A}"/>
                  </a:ext>
                </a:extLst>
              </p:cNvPr>
              <p:cNvSpPr txBox="1"/>
              <p:nvPr/>
            </p:nvSpPr>
            <p:spPr>
              <a:xfrm>
                <a:off x="1606466" y="2796342"/>
                <a:ext cx="3962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41B0AF6-4E3B-8659-BB1E-E00FAC40E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466" y="2796342"/>
                <a:ext cx="39626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89FFE88-CA55-3FFD-C8CE-BAFE819FA8F1}"/>
                  </a:ext>
                </a:extLst>
              </p:cNvPr>
              <p:cNvSpPr txBox="1"/>
              <p:nvPr/>
            </p:nvSpPr>
            <p:spPr>
              <a:xfrm>
                <a:off x="3316982" y="2614721"/>
                <a:ext cx="1219285" cy="7326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36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42</m:t>
                            </m:r>
                          </m:e>
                        </m:mr>
                        <m:m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66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81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96</m:t>
                            </m:r>
                          </m:e>
                        </m:mr>
                        <m:m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102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126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150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89FFE88-CA55-3FFD-C8CE-BAFE819FA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982" y="2614721"/>
                <a:ext cx="1219285" cy="732636"/>
              </a:xfrm>
              <a:prstGeom prst="rect">
                <a:avLst/>
              </a:prstGeom>
              <a:blipFill>
                <a:blip r:embed="rId6"/>
                <a:stretch>
                  <a:fillRect l="-7216" r="-38144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23B2FB0-D5BE-761F-6EDF-3FE1E6785ADD}"/>
                  </a:ext>
                </a:extLst>
              </p:cNvPr>
              <p:cNvSpPr txBox="1"/>
              <p:nvPr/>
            </p:nvSpPr>
            <p:spPr>
              <a:xfrm>
                <a:off x="757071" y="3681051"/>
                <a:ext cx="892872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mr>
                        <m:m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mr>
                        <m:m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23B2FB0-D5BE-761F-6EDF-3FE1E6785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071" y="3681051"/>
                <a:ext cx="892872" cy="732573"/>
              </a:xfrm>
              <a:prstGeom prst="rect">
                <a:avLst/>
              </a:prstGeom>
              <a:blipFill>
                <a:blip r:embed="rId7"/>
                <a:stretch>
                  <a:fillRect l="-5556" r="-4167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6A3BE80-746C-0E58-EE16-175FC10B661A}"/>
                  </a:ext>
                </a:extLst>
              </p:cNvPr>
              <p:cNvSpPr txBox="1"/>
              <p:nvPr/>
            </p:nvSpPr>
            <p:spPr>
              <a:xfrm>
                <a:off x="1621428" y="3849961"/>
                <a:ext cx="3962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6A3BE80-746C-0E58-EE16-175FC10B6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428" y="3849961"/>
                <a:ext cx="39626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1E8E954-D74F-29CA-76A7-93A6FE00DA2E}"/>
                  </a:ext>
                </a:extLst>
              </p:cNvPr>
              <p:cNvSpPr txBox="1"/>
              <p:nvPr/>
            </p:nvSpPr>
            <p:spPr>
              <a:xfrm>
                <a:off x="2264202" y="3850712"/>
                <a:ext cx="306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I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1E8E954-D74F-29CA-76A7-93A6FE00D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4202" y="3850712"/>
                <a:ext cx="30649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4E74279-57E4-775F-4C4E-C42F539C16F4}"/>
                  </a:ext>
                </a:extLst>
              </p:cNvPr>
              <p:cNvSpPr txBox="1"/>
              <p:nvPr/>
            </p:nvSpPr>
            <p:spPr>
              <a:xfrm>
                <a:off x="3504523" y="3692506"/>
                <a:ext cx="892872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3"/>
                                <m:mcJc m:val="center"/>
                              </m:mcPr>
                            </m:mc>
                          </m:mcs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mr>
                        <m:m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mr>
                        <m:m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</m:m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4E74279-57E4-775F-4C4E-C42F539C1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523" y="3692506"/>
                <a:ext cx="892872" cy="732573"/>
              </a:xfrm>
              <a:prstGeom prst="rect">
                <a:avLst/>
              </a:prstGeom>
              <a:blipFill>
                <a:blip r:embed="rId9"/>
                <a:stretch>
                  <a:fillRect l="-7042" r="-5634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51B4DAF-A5D1-1C84-ADAA-FDD9A0D19D60}"/>
              </a:ext>
            </a:extLst>
          </p:cNvPr>
          <p:cNvSpPr txBox="1"/>
          <p:nvPr/>
        </p:nvSpPr>
        <p:spPr>
          <a:xfrm>
            <a:off x="144208" y="5550588"/>
            <a:ext cx="69748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</a:t>
            </a:r>
            <a:r>
              <a:rPr lang="zh-CN" altLang="en-US" dirty="0"/>
              <a:t> </a:t>
            </a:r>
            <a:r>
              <a:rPr lang="en-US" altLang="zh-CN" dirty="0"/>
              <a:t>code:</a:t>
            </a:r>
            <a:endParaRPr lang="en-US" dirty="0"/>
          </a:p>
          <a:p>
            <a:r>
              <a:rPr lang="en-US" dirty="0">
                <a:hlinkClick r:id="rId10"/>
              </a:rPr>
              <a:t>https://github.com/runyangtian/2x2_systolic_array_double_buffer.git</a:t>
            </a:r>
            <a:endParaRPr lang="en-US" dirty="0"/>
          </a:p>
          <a:p>
            <a:r>
              <a:rPr lang="en-US" dirty="0"/>
              <a:t>Find </a:t>
            </a:r>
            <a:r>
              <a:rPr lang="en-US" dirty="0">
                <a:hlinkClick r:id="rId11" tooltip="3x3_version"/>
              </a:rPr>
              <a:t>3x3_version</a:t>
            </a:r>
            <a:r>
              <a:rPr lang="en-US" dirty="0"/>
              <a:t> folder</a:t>
            </a:r>
          </a:p>
        </p:txBody>
      </p:sp>
    </p:spTree>
    <p:extLst>
      <p:ext uri="{BB962C8B-B14F-4D97-AF65-F5344CB8AC3E}">
        <p14:creationId xmlns:p14="http://schemas.microsoft.com/office/powerpoint/2010/main" val="3509473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69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Tian, Runyang</dc:creator>
  <cp:lastModifiedBy>Tian, Runyang</cp:lastModifiedBy>
  <cp:revision>12</cp:revision>
  <dcterms:created xsi:type="dcterms:W3CDTF">2026-03-02T09:33:32Z</dcterms:created>
  <dcterms:modified xsi:type="dcterms:W3CDTF">2026-03-17T19:23:24Z</dcterms:modified>
</cp:coreProperties>
</file>