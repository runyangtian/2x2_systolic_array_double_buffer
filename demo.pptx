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5"/>
    <p:restoredTop sz="94702"/>
  </p:normalViewPr>
  <p:slideViewPr>
    <p:cSldViewPr snapToGrid="0">
      <p:cViewPr>
        <p:scale>
          <a:sx n="107" d="100"/>
          <a:sy n="107" d="100"/>
        </p:scale>
        <p:origin x="66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46FF-EB74-3FA0-88F5-FFA3C3BC4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3DE41-8D73-1BA2-F694-F1B82BDBA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C67A9-BE6D-ACDA-F890-B3C81F85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C25E0-BEC4-2F86-5829-CD8F5D11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0D08D-4972-1312-988C-0464D762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6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E82E-4386-BC09-F15B-3588738D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3C2E1-BD71-D4BB-2C9C-6841530F5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2167F-1458-6371-7EF9-7C8F057C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9BFBE-569F-AA79-177B-4A5F0C27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D5F7B-87BC-74EE-D2E6-18AA8540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4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EEBA-70DA-70C7-6D94-84BBC774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BFC8-FC67-7D6A-C612-6F57648A4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9131D-75CD-E9AE-4743-3C25A1839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FF666-BEFF-AC7A-C1AE-04410C48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B7AD-00A3-72BD-E708-5C5688D2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0856-6791-DDF0-3353-0607CB5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61769-89F6-57F5-CD0B-2920EAAE2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AF795-297E-7F0E-AC06-FB79165EA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6E5B3-0F6C-BB1F-5195-98B4E457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AE289-B92B-905C-538F-933A0974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5F808-7481-4A00-6A1D-24D04904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28EB4-49DA-3521-DF17-570738BAE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E1BD0-B092-99CB-4111-E93911900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96703-841B-C20C-C6C7-04D220808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7AD36-B9E2-BEF7-AE53-8971C7474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3BB64C-78C4-7734-52C1-A0793BB5B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0AE88-1B94-1056-A5EF-6239970A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36D25-5FC3-D554-808E-D4EF3239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24F5C-FE86-964B-DEEB-B5C8D3C7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1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1737-057F-3AD9-A360-8E6CDE22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F443E-AE3E-5BED-E786-53111E00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56F8A-A559-8763-4C10-2DDA0B9C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DB325-3122-0121-F255-A63F0AA4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5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26AE4-C04B-2D18-62AD-E8C06EC6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84974-3D7F-870E-23ED-9E66AFD7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9C0B6-0731-AB50-760D-BBC8ADA3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49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78F1-4BB7-E6D9-E640-E903E7EF8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BEA9-0AC2-CF8A-EC1C-D056523E0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B937E-39F9-7C9F-C750-99F515D7F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EEC8D-9FA5-78CA-5239-96810765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5ABF0-F1EE-61D0-40B2-6BAB9F33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5F69-3000-DCAE-58F6-411F3B8F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2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DF4F-4BEB-3B72-170C-42DD1132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339A6-D959-F1C8-F04A-4DC586C1F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E9115-5C5A-671E-487F-9B81D6534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15E21-7AA1-E138-1D9D-DC5AAFC4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195BA-2412-7756-F3DE-B367568F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DA50D-BA66-F5D0-F191-3E76F8E4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5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2A2D-12CC-1A8A-8B33-7683531E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A4983-8E59-CF53-93ED-C9222231D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A7EDE-3ABD-48F3-C777-AE39DA1D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0784B-55AC-8EBA-13D2-BCE151F1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91D69-E9D7-0529-22B2-04B02219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5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0BA35-2155-F666-1996-0C2B26A42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EF28F-2B8B-A69F-E9AF-32F1FB11F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5088-D813-C886-AF44-C4F0F25B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CC811-3360-9A6B-AC08-07EFD77F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7F31-B08B-BE8C-ECD0-3083CAFC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7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79880F-F344-5E54-E513-6603DEC7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E53BD-478A-ABFA-7D66-DC177BB4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6E9B0-BF2B-6810-BC18-B9C96F571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D0FCA-53D0-564C-86B9-6B61E7864998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4BB1B-0269-9F89-3048-D524C19E8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35A71-C370-4D2B-8DDD-44D328386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7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A4A97170-85AD-FBBB-8028-F86684A093D8}"/>
              </a:ext>
            </a:extLst>
          </p:cNvPr>
          <p:cNvSpPr txBox="1"/>
          <p:nvPr/>
        </p:nvSpPr>
        <p:spPr>
          <a:xfrm>
            <a:off x="144208" y="163746"/>
            <a:ext cx="8317569" cy="559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Demo for the 2x2 Systolic Array with Double Buffer </a:t>
            </a:r>
            <a:endParaRPr lang="en-US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4F5732-DD18-FEF9-AC23-561E8C219D47}"/>
              </a:ext>
            </a:extLst>
          </p:cNvPr>
          <p:cNvSpPr/>
          <p:nvPr/>
        </p:nvSpPr>
        <p:spPr>
          <a:xfrm>
            <a:off x="4456129" y="3425354"/>
            <a:ext cx="539826" cy="5398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PE11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47165C-C4A1-9FA3-2FCC-3840E2F6C0A7}"/>
              </a:ext>
            </a:extLst>
          </p:cNvPr>
          <p:cNvSpPr/>
          <p:nvPr/>
        </p:nvSpPr>
        <p:spPr>
          <a:xfrm>
            <a:off x="5535781" y="3425354"/>
            <a:ext cx="539826" cy="5398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PE12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100FAB-EC6E-5060-A8BD-90943B9668D5}"/>
              </a:ext>
            </a:extLst>
          </p:cNvPr>
          <p:cNvSpPr/>
          <p:nvPr/>
        </p:nvSpPr>
        <p:spPr>
          <a:xfrm>
            <a:off x="4456129" y="4505006"/>
            <a:ext cx="539826" cy="5398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PE21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9205D11-7317-C27A-66D0-443FF29F339D}"/>
              </a:ext>
            </a:extLst>
          </p:cNvPr>
          <p:cNvSpPr/>
          <p:nvPr/>
        </p:nvSpPr>
        <p:spPr>
          <a:xfrm>
            <a:off x="5535781" y="4505006"/>
            <a:ext cx="539826" cy="5398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PE22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AF502F4-C165-7ACE-D8A5-8CE7195D53FB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>
            <a:off x="4995955" y="3695267"/>
            <a:ext cx="5398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88366FD-EEC6-002C-D3B8-07DF5FB61BD5}"/>
              </a:ext>
            </a:extLst>
          </p:cNvPr>
          <p:cNvCxnSpPr>
            <a:cxnSpLocks/>
          </p:cNvCxnSpPr>
          <p:nvPr/>
        </p:nvCxnSpPr>
        <p:spPr>
          <a:xfrm>
            <a:off x="4814819" y="3965180"/>
            <a:ext cx="0" cy="539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1BB0BCF-45BE-B3F7-28EB-7A43E5D24254}"/>
              </a:ext>
            </a:extLst>
          </p:cNvPr>
          <p:cNvCxnSpPr>
            <a:cxnSpLocks/>
          </p:cNvCxnSpPr>
          <p:nvPr/>
        </p:nvCxnSpPr>
        <p:spPr>
          <a:xfrm>
            <a:off x="5894471" y="3965180"/>
            <a:ext cx="0" cy="539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A5ADF67-0F7B-3739-5EC8-908D8F6E1565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>
            <a:off x="4995955" y="4774919"/>
            <a:ext cx="5398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EC87F2A-E17A-1E5A-B36A-2D3BE69C2765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4218395" y="3695267"/>
            <a:ext cx="2377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C247092-FFD8-5FD1-745E-F1B56CA11B2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4218395" y="4774919"/>
            <a:ext cx="2377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B6DFC5B-C07D-B248-265B-FB3F732EF71F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4726042" y="3155441"/>
            <a:ext cx="0" cy="269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E1B4030-DEA5-D7F8-6B45-0CAFD94C8A23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5805694" y="3155441"/>
            <a:ext cx="0" cy="269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BFAF2F4-6C6B-B6F7-77B1-F854C75DC120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4726042" y="5044832"/>
            <a:ext cx="0" cy="269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F65B5A-D41E-44AC-A652-BD2DCC932034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5805694" y="5044832"/>
            <a:ext cx="0" cy="269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934EACA-80EF-F724-B861-31279A45B39F}"/>
              </a:ext>
            </a:extLst>
          </p:cNvPr>
          <p:cNvSpPr txBox="1"/>
          <p:nvPr/>
        </p:nvSpPr>
        <p:spPr>
          <a:xfrm rot="5400000">
            <a:off x="4602855" y="4072588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psum</a:t>
            </a:r>
            <a:endParaRPr lang="en-US" sz="16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BD8A36-A372-8482-AF5C-AFAC215FF89B}"/>
              </a:ext>
            </a:extLst>
          </p:cNvPr>
          <p:cNvSpPr txBox="1"/>
          <p:nvPr/>
        </p:nvSpPr>
        <p:spPr>
          <a:xfrm rot="5400000">
            <a:off x="5672191" y="4065816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psum</a:t>
            </a:r>
            <a:endParaRPr lang="en-US" sz="16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D9033B4-B9B5-334A-911F-0151DAC4EE00}"/>
              </a:ext>
            </a:extLst>
          </p:cNvPr>
          <p:cNvSpPr txBox="1"/>
          <p:nvPr/>
        </p:nvSpPr>
        <p:spPr>
          <a:xfrm>
            <a:off x="5127185" y="3356713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FDC7E4-303D-F4EE-EF7E-2B900FEB732E}"/>
              </a:ext>
            </a:extLst>
          </p:cNvPr>
          <p:cNvSpPr txBox="1"/>
          <p:nvPr/>
        </p:nvSpPr>
        <p:spPr>
          <a:xfrm>
            <a:off x="5129782" y="4436365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FF8D24A-7739-0136-13AE-16D43BF12DBF}"/>
              </a:ext>
            </a:extLst>
          </p:cNvPr>
          <p:cNvSpPr txBox="1"/>
          <p:nvPr/>
        </p:nvSpPr>
        <p:spPr>
          <a:xfrm>
            <a:off x="4576001" y="2850948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60BFC00-C83E-AC29-AC2D-3615E731B1AB}"/>
              </a:ext>
            </a:extLst>
          </p:cNvPr>
          <p:cNvSpPr txBox="1"/>
          <p:nvPr/>
        </p:nvSpPr>
        <p:spPr>
          <a:xfrm>
            <a:off x="5655653" y="2850948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DA6307-F7B8-3A1E-CDEA-DD86B7B2A544}"/>
              </a:ext>
            </a:extLst>
          </p:cNvPr>
          <p:cNvSpPr txBox="1"/>
          <p:nvPr/>
        </p:nvSpPr>
        <p:spPr>
          <a:xfrm>
            <a:off x="3957331" y="3523391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FF34C0B-B3BF-54FF-0DFD-1C7C780ED24A}"/>
              </a:ext>
            </a:extLst>
          </p:cNvPr>
          <p:cNvSpPr txBox="1"/>
          <p:nvPr/>
        </p:nvSpPr>
        <p:spPr>
          <a:xfrm>
            <a:off x="3959928" y="4603043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2FBBF18-F123-DD49-0AEF-C985749B2BA3}"/>
              </a:ext>
            </a:extLst>
          </p:cNvPr>
          <p:cNvSpPr txBox="1"/>
          <p:nvPr/>
        </p:nvSpPr>
        <p:spPr>
          <a:xfrm>
            <a:off x="4581698" y="5257593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727C08-5E06-C1A7-44C4-FA15C2E45E60}"/>
              </a:ext>
            </a:extLst>
          </p:cNvPr>
          <p:cNvSpPr txBox="1"/>
          <p:nvPr/>
        </p:nvSpPr>
        <p:spPr>
          <a:xfrm>
            <a:off x="5661350" y="525759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5CC104-C167-C780-DBDF-5B961B5DF08C}"/>
              </a:ext>
            </a:extLst>
          </p:cNvPr>
          <p:cNvSpPr txBox="1"/>
          <p:nvPr/>
        </p:nvSpPr>
        <p:spPr>
          <a:xfrm>
            <a:off x="506600" y="1532664"/>
            <a:ext cx="6317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runyangtian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/2x2_systolic_array_double_buffer.git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80E097D-2002-95DD-7CFF-A45B0F4C0BC9}"/>
              </a:ext>
            </a:extLst>
          </p:cNvPr>
          <p:cNvSpPr txBox="1"/>
          <p:nvPr/>
        </p:nvSpPr>
        <p:spPr>
          <a:xfrm>
            <a:off x="211972" y="939178"/>
            <a:ext cx="184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Source code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71E2439-4AFA-DFB1-E984-43A9915A5368}"/>
              </a:ext>
            </a:extLst>
          </p:cNvPr>
          <p:cNvSpPr txBox="1"/>
          <p:nvPr/>
        </p:nvSpPr>
        <p:spPr>
          <a:xfrm>
            <a:off x="213211" y="2176417"/>
            <a:ext cx="1846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</p:txBody>
      </p:sp>
      <p:sp>
        <p:nvSpPr>
          <p:cNvPr id="100" name="Trapezoid 99">
            <a:extLst>
              <a:ext uri="{FF2B5EF4-FFF2-40B4-BE49-F238E27FC236}">
                <a16:creationId xmlns:a16="http://schemas.microsoft.com/office/drawing/2014/main" id="{694300FE-9BD1-AA4C-BC21-0E2D08E6C82B}"/>
              </a:ext>
            </a:extLst>
          </p:cNvPr>
          <p:cNvSpPr/>
          <p:nvPr/>
        </p:nvSpPr>
        <p:spPr>
          <a:xfrm rot="10800000">
            <a:off x="8682087" y="3206636"/>
            <a:ext cx="672575" cy="269915"/>
          </a:xfrm>
          <a:prstGeom prst="trapezoid">
            <a:avLst>
              <a:gd name="adj" fmla="val 4686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1E02433B-91DD-8638-2B75-C7156EE6C147}"/>
              </a:ext>
            </a:extLst>
          </p:cNvPr>
          <p:cNvCxnSpPr>
            <a:cxnSpLocks/>
            <a:stCxn id="100" idx="0"/>
            <a:endCxn id="103" idx="0"/>
          </p:cNvCxnSpPr>
          <p:nvPr/>
        </p:nvCxnSpPr>
        <p:spPr>
          <a:xfrm rot="5400000" flipH="1" flipV="1">
            <a:off x="8965795" y="3259215"/>
            <a:ext cx="269915" cy="164758"/>
          </a:xfrm>
          <a:prstGeom prst="bentConnector5">
            <a:avLst>
              <a:gd name="adj1" fmla="val -84693"/>
              <a:gd name="adj2" fmla="val 342859"/>
              <a:gd name="adj3" fmla="val 1846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934F79D-D2DD-F259-BEE3-075784873412}"/>
              </a:ext>
            </a:extLst>
          </p:cNvPr>
          <p:cNvSpPr/>
          <p:nvPr/>
        </p:nvSpPr>
        <p:spPr>
          <a:xfrm>
            <a:off x="9079615" y="3206636"/>
            <a:ext cx="207034" cy="153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7002D93-5B76-8E7A-0992-6370791DB3A3}"/>
              </a:ext>
            </a:extLst>
          </p:cNvPr>
          <p:cNvSpPr/>
          <p:nvPr/>
        </p:nvSpPr>
        <p:spPr>
          <a:xfrm>
            <a:off x="8760683" y="3206636"/>
            <a:ext cx="312161" cy="269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0D8D2F3-5787-400B-1516-905FEE4C58DA}"/>
              </a:ext>
            </a:extLst>
          </p:cNvPr>
          <p:cNvCxnSpPr>
            <a:cxnSpLocks/>
            <a:stCxn id="111" idx="2"/>
            <a:endCxn id="108" idx="0"/>
          </p:cNvCxnSpPr>
          <p:nvPr/>
        </p:nvCxnSpPr>
        <p:spPr>
          <a:xfrm flipH="1">
            <a:off x="8916764" y="2639372"/>
            <a:ext cx="687" cy="567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A1625374-2449-50CE-2C4E-98F270CF5267}"/>
              </a:ext>
            </a:extLst>
          </p:cNvPr>
          <p:cNvSpPr txBox="1"/>
          <p:nvPr/>
        </p:nvSpPr>
        <p:spPr>
          <a:xfrm>
            <a:off x="8767410" y="2300818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112" name="Trapezoid 111">
            <a:extLst>
              <a:ext uri="{FF2B5EF4-FFF2-40B4-BE49-F238E27FC236}">
                <a16:creationId xmlns:a16="http://schemas.microsoft.com/office/drawing/2014/main" id="{427ACFB9-EC69-CE40-30CE-2C42C4A503CA}"/>
              </a:ext>
            </a:extLst>
          </p:cNvPr>
          <p:cNvSpPr/>
          <p:nvPr/>
        </p:nvSpPr>
        <p:spPr>
          <a:xfrm rot="10800000">
            <a:off x="9716799" y="3206636"/>
            <a:ext cx="672575" cy="269915"/>
          </a:xfrm>
          <a:prstGeom prst="trapezoid">
            <a:avLst>
              <a:gd name="adj" fmla="val 4686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5DA57B32-F51C-AA07-EBDC-E6C0CB140833}"/>
              </a:ext>
            </a:extLst>
          </p:cNvPr>
          <p:cNvCxnSpPr>
            <a:cxnSpLocks/>
            <a:stCxn id="112" idx="0"/>
            <a:endCxn id="114" idx="0"/>
          </p:cNvCxnSpPr>
          <p:nvPr/>
        </p:nvCxnSpPr>
        <p:spPr>
          <a:xfrm rot="5400000" flipH="1" flipV="1">
            <a:off x="10000507" y="3259215"/>
            <a:ext cx="269915" cy="164758"/>
          </a:xfrm>
          <a:prstGeom prst="bentConnector5">
            <a:avLst>
              <a:gd name="adj1" fmla="val -84693"/>
              <a:gd name="adj2" fmla="val 342859"/>
              <a:gd name="adj3" fmla="val 1846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215ED8B-BBF2-6916-8320-13FF17391671}"/>
              </a:ext>
            </a:extLst>
          </p:cNvPr>
          <p:cNvSpPr/>
          <p:nvPr/>
        </p:nvSpPr>
        <p:spPr>
          <a:xfrm>
            <a:off x="10114327" y="3206636"/>
            <a:ext cx="207034" cy="153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72D8EC0-29D5-E9FA-AA81-807CF2ECE1E3}"/>
              </a:ext>
            </a:extLst>
          </p:cNvPr>
          <p:cNvSpPr/>
          <p:nvPr/>
        </p:nvSpPr>
        <p:spPr>
          <a:xfrm>
            <a:off x="9839280" y="3206636"/>
            <a:ext cx="207034" cy="153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21311D1-98CA-51D1-E458-B4A6DBBDBEB3}"/>
              </a:ext>
            </a:extLst>
          </p:cNvPr>
          <p:cNvCxnSpPr>
            <a:cxnSpLocks/>
            <a:stCxn id="100" idx="0"/>
            <a:endCxn id="127" idx="0"/>
          </p:cNvCxnSpPr>
          <p:nvPr/>
        </p:nvCxnSpPr>
        <p:spPr>
          <a:xfrm flipH="1">
            <a:off x="9014989" y="3476551"/>
            <a:ext cx="3385" cy="585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2851F6E-712B-C24A-3ED7-0E77DF6F2076}"/>
              </a:ext>
            </a:extLst>
          </p:cNvPr>
          <p:cNvCxnSpPr>
            <a:cxnSpLocks/>
            <a:stCxn id="112" idx="0"/>
            <a:endCxn id="131" idx="0"/>
          </p:cNvCxnSpPr>
          <p:nvPr/>
        </p:nvCxnSpPr>
        <p:spPr>
          <a:xfrm flipH="1">
            <a:off x="10046314" y="3476551"/>
            <a:ext cx="6772" cy="592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C0BEC7D-7E2F-44DB-CFD8-CC3EDAE0BF13}"/>
              </a:ext>
            </a:extLst>
          </p:cNvPr>
          <p:cNvSpPr/>
          <p:nvPr/>
        </p:nvSpPr>
        <p:spPr>
          <a:xfrm>
            <a:off x="8743330" y="4061790"/>
            <a:ext cx="543317" cy="342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DFF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3275620-7502-CC02-6F6A-1CC97DDDBEE7}"/>
              </a:ext>
            </a:extLst>
          </p:cNvPr>
          <p:cNvSpPr/>
          <p:nvPr/>
        </p:nvSpPr>
        <p:spPr>
          <a:xfrm>
            <a:off x="9774655" y="4068562"/>
            <a:ext cx="543317" cy="342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DFF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077454D-F1DF-844C-FD37-98F01EE4E1A6}"/>
              </a:ext>
            </a:extLst>
          </p:cNvPr>
          <p:cNvSpPr/>
          <p:nvPr/>
        </p:nvSpPr>
        <p:spPr>
          <a:xfrm>
            <a:off x="8703689" y="2693486"/>
            <a:ext cx="207034" cy="153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3D8971FF-B742-095E-B184-36158044E464}"/>
              </a:ext>
            </a:extLst>
          </p:cNvPr>
          <p:cNvCxnSpPr>
            <a:cxnSpLocks/>
            <a:stCxn id="133" idx="3"/>
            <a:endCxn id="115" idx="0"/>
          </p:cNvCxnSpPr>
          <p:nvPr/>
        </p:nvCxnSpPr>
        <p:spPr>
          <a:xfrm>
            <a:off x="8910723" y="2769992"/>
            <a:ext cx="1032074" cy="4366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038C5D17-272F-F61F-E048-0B10C238B5CB}"/>
              </a:ext>
            </a:extLst>
          </p:cNvPr>
          <p:cNvSpPr txBox="1"/>
          <p:nvPr/>
        </p:nvSpPr>
        <p:spPr>
          <a:xfrm>
            <a:off x="7497423" y="3172316"/>
            <a:ext cx="9643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load_sel</a:t>
            </a:r>
            <a:endParaRPr lang="en-US" sz="1600" dirty="0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11ACEABB-A9C8-06A1-6A51-1002881F1707}"/>
              </a:ext>
            </a:extLst>
          </p:cNvPr>
          <p:cNvCxnSpPr>
            <a:cxnSpLocks/>
            <a:stCxn id="142" idx="3"/>
            <a:endCxn id="100" idx="3"/>
          </p:cNvCxnSpPr>
          <p:nvPr/>
        </p:nvCxnSpPr>
        <p:spPr>
          <a:xfrm>
            <a:off x="8461777" y="3341593"/>
            <a:ext cx="2835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3F5C497-5505-2ED2-4B56-E04CDD637A9D}"/>
              </a:ext>
            </a:extLst>
          </p:cNvPr>
          <p:cNvSpPr/>
          <p:nvPr/>
        </p:nvSpPr>
        <p:spPr>
          <a:xfrm>
            <a:off x="8913083" y="3359036"/>
            <a:ext cx="312161" cy="269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0DF0915-5168-50CF-43A7-34FE0BFA44D5}"/>
              </a:ext>
            </a:extLst>
          </p:cNvPr>
          <p:cNvSpPr txBox="1"/>
          <p:nvPr/>
        </p:nvSpPr>
        <p:spPr>
          <a:xfrm>
            <a:off x="10737965" y="3179503"/>
            <a:ext cx="10554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~</a:t>
            </a:r>
            <a:r>
              <a:rPr lang="en-US" sz="1600" dirty="0" err="1"/>
              <a:t>load_sel</a:t>
            </a:r>
            <a:endParaRPr lang="en-US" sz="1600" dirty="0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45685229-56C6-55E5-2DEA-1BFBFB249FA4}"/>
              </a:ext>
            </a:extLst>
          </p:cNvPr>
          <p:cNvCxnSpPr>
            <a:cxnSpLocks/>
          </p:cNvCxnSpPr>
          <p:nvPr/>
        </p:nvCxnSpPr>
        <p:spPr>
          <a:xfrm flipH="1">
            <a:off x="10317972" y="3353933"/>
            <a:ext cx="4569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rapezoid 167">
            <a:extLst>
              <a:ext uri="{FF2B5EF4-FFF2-40B4-BE49-F238E27FC236}">
                <a16:creationId xmlns:a16="http://schemas.microsoft.com/office/drawing/2014/main" id="{1C85CD1E-BB36-C081-9DAA-3DD4FE3550C0}"/>
              </a:ext>
            </a:extLst>
          </p:cNvPr>
          <p:cNvSpPr/>
          <p:nvPr/>
        </p:nvSpPr>
        <p:spPr>
          <a:xfrm rot="10800000">
            <a:off x="9205540" y="4696121"/>
            <a:ext cx="672575" cy="269915"/>
          </a:xfrm>
          <a:prstGeom prst="trapezoid">
            <a:avLst>
              <a:gd name="adj" fmla="val 4686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200A200-CD2C-B573-45EE-50B42BD94E00}"/>
              </a:ext>
            </a:extLst>
          </p:cNvPr>
          <p:cNvSpPr/>
          <p:nvPr/>
        </p:nvSpPr>
        <p:spPr>
          <a:xfrm>
            <a:off x="9567621" y="4694914"/>
            <a:ext cx="207034" cy="153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81FECF8-B72E-F5F0-E6CD-D41C6778EB2A}"/>
              </a:ext>
            </a:extLst>
          </p:cNvPr>
          <p:cNvSpPr/>
          <p:nvPr/>
        </p:nvSpPr>
        <p:spPr>
          <a:xfrm>
            <a:off x="9292574" y="4694914"/>
            <a:ext cx="207034" cy="153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Elbow Connector 170">
            <a:extLst>
              <a:ext uri="{FF2B5EF4-FFF2-40B4-BE49-F238E27FC236}">
                <a16:creationId xmlns:a16="http://schemas.microsoft.com/office/drawing/2014/main" id="{88E38B36-2A26-E927-6EA0-D45EEF44FA40}"/>
              </a:ext>
            </a:extLst>
          </p:cNvPr>
          <p:cNvCxnSpPr>
            <a:cxnSpLocks/>
            <a:stCxn id="127" idx="2"/>
            <a:endCxn id="170" idx="0"/>
          </p:cNvCxnSpPr>
          <p:nvPr/>
        </p:nvCxnSpPr>
        <p:spPr>
          <a:xfrm rot="16200000" flipH="1">
            <a:off x="9059985" y="4358808"/>
            <a:ext cx="291110" cy="381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Elbow Connector 175">
            <a:extLst>
              <a:ext uri="{FF2B5EF4-FFF2-40B4-BE49-F238E27FC236}">
                <a16:creationId xmlns:a16="http://schemas.microsoft.com/office/drawing/2014/main" id="{F44B6453-C235-9035-2841-64B856C9A5D3}"/>
              </a:ext>
            </a:extLst>
          </p:cNvPr>
          <p:cNvCxnSpPr>
            <a:cxnSpLocks/>
            <a:stCxn id="131" idx="2"/>
            <a:endCxn id="169" idx="0"/>
          </p:cNvCxnSpPr>
          <p:nvPr/>
        </p:nvCxnSpPr>
        <p:spPr>
          <a:xfrm rot="5400000">
            <a:off x="9716557" y="4365157"/>
            <a:ext cx="284338" cy="3751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A3527DBF-83FC-29B7-E2FD-79C8B39152CB}"/>
              </a:ext>
            </a:extLst>
          </p:cNvPr>
          <p:cNvSpPr txBox="1"/>
          <p:nvPr/>
        </p:nvSpPr>
        <p:spPr>
          <a:xfrm>
            <a:off x="8153959" y="4670808"/>
            <a:ext cx="827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act_sel</a:t>
            </a:r>
            <a:endParaRPr lang="en-US" sz="1600" dirty="0"/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A155EE7-1F95-2CC5-9EC6-6D75D4DA006E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8980983" y="4840085"/>
            <a:ext cx="2835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C371088D-6AD8-B5E6-5462-0E83949A44FB}"/>
              </a:ext>
            </a:extLst>
          </p:cNvPr>
          <p:cNvSpPr/>
          <p:nvPr/>
        </p:nvSpPr>
        <p:spPr>
          <a:xfrm>
            <a:off x="9902479" y="5015324"/>
            <a:ext cx="375176" cy="37517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D39A549D-1EF4-E3E4-B29A-93CAB1F29EC6}"/>
                  </a:ext>
                </a:extLst>
              </p:cNvPr>
              <p:cNvSpPr txBox="1"/>
              <p:nvPr/>
            </p:nvSpPr>
            <p:spPr>
              <a:xfrm>
                <a:off x="9884334" y="5009653"/>
                <a:ext cx="4495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D39A549D-1EF4-E3E4-B29A-93CAB1F29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4334" y="5009653"/>
                <a:ext cx="4495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6D46F3-5FDB-31C3-4E75-AF396BD2C519}"/>
              </a:ext>
            </a:extLst>
          </p:cNvPr>
          <p:cNvCxnSpPr>
            <a:cxnSpLocks/>
            <a:stCxn id="168" idx="0"/>
          </p:cNvCxnSpPr>
          <p:nvPr/>
        </p:nvCxnSpPr>
        <p:spPr>
          <a:xfrm rot="16200000" flipH="1">
            <a:off x="9686932" y="4820931"/>
            <a:ext cx="110760" cy="4009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1E0623F-B8D7-E431-EA99-11CA02BBA1FA}"/>
              </a:ext>
            </a:extLst>
          </p:cNvPr>
          <p:cNvCxnSpPr>
            <a:cxnSpLocks/>
          </p:cNvCxnSpPr>
          <p:nvPr/>
        </p:nvCxnSpPr>
        <p:spPr>
          <a:xfrm>
            <a:off x="9000233" y="5290463"/>
            <a:ext cx="935451" cy="4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48361B56-439D-BBD3-7140-8B93EE19A346}"/>
              </a:ext>
            </a:extLst>
          </p:cNvPr>
          <p:cNvSpPr txBox="1"/>
          <p:nvPr/>
        </p:nvSpPr>
        <p:spPr>
          <a:xfrm>
            <a:off x="8693679" y="5101765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24D203EC-F801-7540-0218-7ECDB65C46D8}"/>
              </a:ext>
            </a:extLst>
          </p:cNvPr>
          <p:cNvSpPr/>
          <p:nvPr/>
        </p:nvSpPr>
        <p:spPr>
          <a:xfrm>
            <a:off x="10704590" y="4909158"/>
            <a:ext cx="375176" cy="37517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014E5F0B-2D04-781A-D15C-5135FDB36F19}"/>
                  </a:ext>
                </a:extLst>
              </p:cNvPr>
              <p:cNvSpPr txBox="1"/>
              <p:nvPr/>
            </p:nvSpPr>
            <p:spPr>
              <a:xfrm>
                <a:off x="10686445" y="4903487"/>
                <a:ext cx="4495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014E5F0B-2D04-781A-D15C-5135FDB36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6445" y="4903487"/>
                <a:ext cx="44954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8AD7BEFE-492B-5201-8F5F-E02A2CABE238}"/>
              </a:ext>
            </a:extLst>
          </p:cNvPr>
          <p:cNvCxnSpPr>
            <a:cxnSpLocks/>
          </p:cNvCxnSpPr>
          <p:nvPr/>
        </p:nvCxnSpPr>
        <p:spPr>
          <a:xfrm>
            <a:off x="10287280" y="5208906"/>
            <a:ext cx="4506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Elbow Connector 199">
            <a:extLst>
              <a:ext uri="{FF2B5EF4-FFF2-40B4-BE49-F238E27FC236}">
                <a16:creationId xmlns:a16="http://schemas.microsoft.com/office/drawing/2014/main" id="{AFD75A17-D0BF-5AC2-5C59-DCC88FF2277A}"/>
              </a:ext>
            </a:extLst>
          </p:cNvPr>
          <p:cNvCxnSpPr>
            <a:cxnSpLocks/>
            <a:stCxn id="209" idx="2"/>
          </p:cNvCxnSpPr>
          <p:nvPr/>
        </p:nvCxnSpPr>
        <p:spPr>
          <a:xfrm rot="16200000" flipH="1">
            <a:off x="10516942" y="4764447"/>
            <a:ext cx="307990" cy="146516"/>
          </a:xfrm>
          <a:prstGeom prst="bentConnector3">
            <a:avLst>
              <a:gd name="adj1" fmla="val 994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2255D725-9D59-B172-6856-3D64D52D503F}"/>
              </a:ext>
            </a:extLst>
          </p:cNvPr>
          <p:cNvSpPr txBox="1"/>
          <p:nvPr/>
        </p:nvSpPr>
        <p:spPr>
          <a:xfrm>
            <a:off x="10252873" y="4345156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psum</a:t>
            </a:r>
            <a:endParaRPr lang="en-US" sz="1600" dirty="0"/>
          </a:p>
        </p:txBody>
      </p:sp>
      <p:cxnSp>
        <p:nvCxnSpPr>
          <p:cNvPr id="210" name="Elbow Connector 209">
            <a:extLst>
              <a:ext uri="{FF2B5EF4-FFF2-40B4-BE49-F238E27FC236}">
                <a16:creationId xmlns:a16="http://schemas.microsoft.com/office/drawing/2014/main" id="{5049C218-0C4B-ABC3-9024-FBBD17724E59}"/>
              </a:ext>
            </a:extLst>
          </p:cNvPr>
          <p:cNvCxnSpPr>
            <a:cxnSpLocks/>
          </p:cNvCxnSpPr>
          <p:nvPr/>
        </p:nvCxnSpPr>
        <p:spPr>
          <a:xfrm>
            <a:off x="11082204" y="5088153"/>
            <a:ext cx="373692" cy="6575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7445B73B-E5DF-9F43-D332-6CDDB5ABEBF0}"/>
              </a:ext>
            </a:extLst>
          </p:cNvPr>
          <p:cNvSpPr txBox="1"/>
          <p:nvPr/>
        </p:nvSpPr>
        <p:spPr>
          <a:xfrm>
            <a:off x="11313407" y="56775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14" name="Rounded Rectangle 213">
            <a:extLst>
              <a:ext uri="{FF2B5EF4-FFF2-40B4-BE49-F238E27FC236}">
                <a16:creationId xmlns:a16="http://schemas.microsoft.com/office/drawing/2014/main" id="{6021D3AD-F365-C9BB-9CE3-14DB6B685DF8}"/>
              </a:ext>
            </a:extLst>
          </p:cNvPr>
          <p:cNvSpPr/>
          <p:nvPr/>
        </p:nvSpPr>
        <p:spPr>
          <a:xfrm>
            <a:off x="7497423" y="2300818"/>
            <a:ext cx="4422591" cy="3746070"/>
          </a:xfrm>
          <a:prstGeom prst="roundRect">
            <a:avLst>
              <a:gd name="adj" fmla="val 102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E6163D4-59E7-2F9C-49CE-5538E254E832}"/>
              </a:ext>
            </a:extLst>
          </p:cNvPr>
          <p:cNvCxnSpPr>
            <a:cxnSpLocks/>
          </p:cNvCxnSpPr>
          <p:nvPr/>
        </p:nvCxnSpPr>
        <p:spPr>
          <a:xfrm flipV="1">
            <a:off x="6060617" y="2411044"/>
            <a:ext cx="1547341" cy="102119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205883F3-36C9-2FCD-F7BD-7B6BA530DB7F}"/>
              </a:ext>
            </a:extLst>
          </p:cNvPr>
          <p:cNvCxnSpPr>
            <a:cxnSpLocks/>
          </p:cNvCxnSpPr>
          <p:nvPr/>
        </p:nvCxnSpPr>
        <p:spPr>
          <a:xfrm>
            <a:off x="6075964" y="3950190"/>
            <a:ext cx="1453771" cy="1869912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CDCFD39E-18B4-4368-FC2F-DB0ED7312911}"/>
              </a:ext>
            </a:extLst>
          </p:cNvPr>
          <p:cNvSpPr/>
          <p:nvPr/>
        </p:nvSpPr>
        <p:spPr>
          <a:xfrm>
            <a:off x="302795" y="3206095"/>
            <a:ext cx="2907559" cy="1869122"/>
          </a:xfrm>
          <a:prstGeom prst="roundRect">
            <a:avLst>
              <a:gd name="adj" fmla="val 102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4EE94B35-EB09-7906-3BEC-194E027F9B16}"/>
              </a:ext>
            </a:extLst>
          </p:cNvPr>
          <p:cNvSpPr/>
          <p:nvPr/>
        </p:nvSpPr>
        <p:spPr>
          <a:xfrm>
            <a:off x="1855544" y="3569953"/>
            <a:ext cx="1217297" cy="1140067"/>
          </a:xfrm>
          <a:prstGeom prst="roundRect">
            <a:avLst>
              <a:gd name="adj" fmla="val 102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Array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2EADAF1-2027-9506-0298-77E0642F55B9}"/>
              </a:ext>
            </a:extLst>
          </p:cNvPr>
          <p:cNvSpPr txBox="1"/>
          <p:nvPr/>
        </p:nvSpPr>
        <p:spPr>
          <a:xfrm>
            <a:off x="350967" y="3697411"/>
            <a:ext cx="1185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Control</a:t>
            </a:r>
          </a:p>
          <a:p>
            <a:pPr algn="ctr"/>
            <a:r>
              <a:rPr lang="en-US" sz="2400" dirty="0"/>
              <a:t>Logic</a:t>
            </a:r>
          </a:p>
        </p:txBody>
      </p:sp>
      <p:sp>
        <p:nvSpPr>
          <p:cNvPr id="224" name="Right Arrow 223">
            <a:extLst>
              <a:ext uri="{FF2B5EF4-FFF2-40B4-BE49-F238E27FC236}">
                <a16:creationId xmlns:a16="http://schemas.microsoft.com/office/drawing/2014/main" id="{7E5DB0C0-3511-69F6-6A05-117991AF8A91}"/>
              </a:ext>
            </a:extLst>
          </p:cNvPr>
          <p:cNvSpPr/>
          <p:nvPr/>
        </p:nvSpPr>
        <p:spPr>
          <a:xfrm>
            <a:off x="1567252" y="4047653"/>
            <a:ext cx="236534" cy="18466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ounded Rectangle 224">
            <a:extLst>
              <a:ext uri="{FF2B5EF4-FFF2-40B4-BE49-F238E27FC236}">
                <a16:creationId xmlns:a16="http://schemas.microsoft.com/office/drawing/2014/main" id="{7509CC92-BD9D-2432-53CC-2C559ABD6EA2}"/>
              </a:ext>
            </a:extLst>
          </p:cNvPr>
          <p:cNvSpPr/>
          <p:nvPr/>
        </p:nvSpPr>
        <p:spPr>
          <a:xfrm>
            <a:off x="3855863" y="2810280"/>
            <a:ext cx="2591029" cy="2773970"/>
          </a:xfrm>
          <a:prstGeom prst="roundRect">
            <a:avLst>
              <a:gd name="adj" fmla="val 102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461DC01D-25EE-1A84-2831-F6FD05EEC76C}"/>
              </a:ext>
            </a:extLst>
          </p:cNvPr>
          <p:cNvCxnSpPr>
            <a:cxnSpLocks/>
          </p:cNvCxnSpPr>
          <p:nvPr/>
        </p:nvCxnSpPr>
        <p:spPr>
          <a:xfrm flipV="1">
            <a:off x="2996868" y="2880738"/>
            <a:ext cx="913415" cy="69571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2982C7B-ACD5-349D-1300-B00382922047}"/>
              </a:ext>
            </a:extLst>
          </p:cNvPr>
          <p:cNvCxnSpPr>
            <a:cxnSpLocks/>
          </p:cNvCxnSpPr>
          <p:nvPr/>
        </p:nvCxnSpPr>
        <p:spPr>
          <a:xfrm>
            <a:off x="2988621" y="4710020"/>
            <a:ext cx="956333" cy="83022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E3BD8753-8676-EB13-E1A3-D73A9E665E97}"/>
              </a:ext>
            </a:extLst>
          </p:cNvPr>
          <p:cNvSpPr txBox="1"/>
          <p:nvPr/>
        </p:nvSpPr>
        <p:spPr>
          <a:xfrm>
            <a:off x="1072678" y="5234495"/>
            <a:ext cx="111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systolic.v</a:t>
            </a:r>
            <a:endParaRPr lang="en-US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DB9BB31-B435-3264-14AB-D0E5D5E58E89}"/>
              </a:ext>
            </a:extLst>
          </p:cNvPr>
          <p:cNvSpPr txBox="1"/>
          <p:nvPr/>
        </p:nvSpPr>
        <p:spPr>
          <a:xfrm>
            <a:off x="4494461" y="5677556"/>
            <a:ext cx="1303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Array_2x2.v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FAF4DA19-5CEB-02B9-A7E7-329E17B24B0B}"/>
              </a:ext>
            </a:extLst>
          </p:cNvPr>
          <p:cNvSpPr txBox="1"/>
          <p:nvPr/>
        </p:nvSpPr>
        <p:spPr>
          <a:xfrm>
            <a:off x="9463846" y="6090504"/>
            <a:ext cx="58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pe.v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9D2930-079A-4542-50EB-8E75D93FDC3F}"/>
              </a:ext>
            </a:extLst>
          </p:cNvPr>
          <p:cNvSpPr txBox="1"/>
          <p:nvPr/>
        </p:nvSpPr>
        <p:spPr>
          <a:xfrm>
            <a:off x="302795" y="6379259"/>
            <a:ext cx="7940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Fig.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2x2 systolic PE array architecture (a) Top module (b) 2x2 PE array (c) PE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80F8B-4E00-4417-0BEE-979DE3F541A5}"/>
              </a:ext>
            </a:extLst>
          </p:cNvPr>
          <p:cNvSpPr txBox="1"/>
          <p:nvPr/>
        </p:nvSpPr>
        <p:spPr>
          <a:xfrm>
            <a:off x="302794" y="3225802"/>
            <a:ext cx="643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C7ED7-CEDA-5072-B54C-F79CBB596748}"/>
              </a:ext>
            </a:extLst>
          </p:cNvPr>
          <p:cNvSpPr txBox="1"/>
          <p:nvPr/>
        </p:nvSpPr>
        <p:spPr>
          <a:xfrm>
            <a:off x="3877410" y="2846498"/>
            <a:ext cx="643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B2E24-60B4-DBCB-FA95-6C925B888002}"/>
              </a:ext>
            </a:extLst>
          </p:cNvPr>
          <p:cNvSpPr txBox="1"/>
          <p:nvPr/>
        </p:nvSpPr>
        <p:spPr>
          <a:xfrm>
            <a:off x="7599039" y="2332411"/>
            <a:ext cx="643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333D0-A775-0FDE-51AD-1A96E8E75824}"/>
              </a:ext>
            </a:extLst>
          </p:cNvPr>
          <p:cNvSpPr txBox="1"/>
          <p:nvPr/>
        </p:nvSpPr>
        <p:spPr>
          <a:xfrm>
            <a:off x="9808266" y="3211185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1     0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14A4B-1B6A-D65B-6FD7-438C5B6065C7}"/>
              </a:ext>
            </a:extLst>
          </p:cNvPr>
          <p:cNvSpPr txBox="1"/>
          <p:nvPr/>
        </p:nvSpPr>
        <p:spPr>
          <a:xfrm>
            <a:off x="8766616" y="3204550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0      1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809A3-D45A-2D24-A008-45950A23DAA4}"/>
              </a:ext>
            </a:extLst>
          </p:cNvPr>
          <p:cNvSpPr txBox="1"/>
          <p:nvPr/>
        </p:nvSpPr>
        <p:spPr>
          <a:xfrm>
            <a:off x="9278425" y="4691975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0      1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170219-9400-4AE8-11F8-1120E43C5E27}"/>
              </a:ext>
            </a:extLst>
          </p:cNvPr>
          <p:cNvCxnSpPr>
            <a:cxnSpLocks/>
          </p:cNvCxnSpPr>
          <p:nvPr/>
        </p:nvCxnSpPr>
        <p:spPr>
          <a:xfrm>
            <a:off x="4551591" y="3965180"/>
            <a:ext cx="0" cy="539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68FF42-B87A-086A-12F4-77CA353DF139}"/>
              </a:ext>
            </a:extLst>
          </p:cNvPr>
          <p:cNvCxnSpPr>
            <a:cxnSpLocks/>
          </p:cNvCxnSpPr>
          <p:nvPr/>
        </p:nvCxnSpPr>
        <p:spPr>
          <a:xfrm>
            <a:off x="5640768" y="3965180"/>
            <a:ext cx="0" cy="539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13A955C-8F00-95FB-AFF9-8AC78EF6DD6A}"/>
              </a:ext>
            </a:extLst>
          </p:cNvPr>
          <p:cNvSpPr txBox="1"/>
          <p:nvPr/>
        </p:nvSpPr>
        <p:spPr>
          <a:xfrm>
            <a:off x="5597487" y="4065816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8C1A1-AB29-A7EC-912D-BDB741B1F36B}"/>
              </a:ext>
            </a:extLst>
          </p:cNvPr>
          <p:cNvSpPr txBox="1"/>
          <p:nvPr/>
        </p:nvSpPr>
        <p:spPr>
          <a:xfrm>
            <a:off x="4501979" y="406007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A11E2D-44BB-746A-00F2-3FADE088B858}"/>
              </a:ext>
            </a:extLst>
          </p:cNvPr>
          <p:cNvSpPr txBox="1"/>
          <p:nvPr/>
        </p:nvSpPr>
        <p:spPr>
          <a:xfrm>
            <a:off x="7563740" y="4065250"/>
            <a:ext cx="890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load_en</a:t>
            </a:r>
            <a:endParaRPr lang="en-US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985899-7E48-D642-8A00-A8D603A7B3C0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8453867" y="4234527"/>
            <a:ext cx="283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51B663C-AE7A-554D-A24C-D8F27BC0AFB6}"/>
              </a:ext>
            </a:extLst>
          </p:cNvPr>
          <p:cNvSpPr txBox="1"/>
          <p:nvPr/>
        </p:nvSpPr>
        <p:spPr>
          <a:xfrm>
            <a:off x="10594555" y="4071194"/>
            <a:ext cx="890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load_en</a:t>
            </a:r>
            <a:endParaRPr lang="en-US" sz="16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C2448E-8C2F-9662-A307-C7CDEFD8B280}"/>
              </a:ext>
            </a:extLst>
          </p:cNvPr>
          <p:cNvCxnSpPr>
            <a:cxnSpLocks/>
            <a:stCxn id="22" idx="1"/>
            <a:endCxn id="131" idx="3"/>
          </p:cNvCxnSpPr>
          <p:nvPr/>
        </p:nvCxnSpPr>
        <p:spPr>
          <a:xfrm flipH="1" flipV="1">
            <a:off x="10317972" y="4239569"/>
            <a:ext cx="276583" cy="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9A780F-D7EB-C366-B132-F044FD40F657}"/>
              </a:ext>
            </a:extLst>
          </p:cNvPr>
          <p:cNvCxnSpPr>
            <a:cxnSpLocks/>
          </p:cNvCxnSpPr>
          <p:nvPr/>
        </p:nvCxnSpPr>
        <p:spPr>
          <a:xfrm flipV="1">
            <a:off x="10892178" y="5301368"/>
            <a:ext cx="0" cy="282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FEA3FE-B606-09C9-A41E-FB69F42FC192}"/>
              </a:ext>
            </a:extLst>
          </p:cNvPr>
          <p:cNvSpPr txBox="1"/>
          <p:nvPr/>
        </p:nvSpPr>
        <p:spPr>
          <a:xfrm>
            <a:off x="10546435" y="5501540"/>
            <a:ext cx="890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pe_en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1055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C47D646-1A37-3AE3-DC79-7D789D8C2E54}"/>
              </a:ext>
            </a:extLst>
          </p:cNvPr>
          <p:cNvSpPr txBox="1"/>
          <p:nvPr/>
        </p:nvSpPr>
        <p:spPr>
          <a:xfrm>
            <a:off x="567417" y="1013718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6EBBF-5880-91A2-C3D6-00CACFE0F86C}"/>
              </a:ext>
            </a:extLst>
          </p:cNvPr>
          <p:cNvSpPr txBox="1"/>
          <p:nvPr/>
        </p:nvSpPr>
        <p:spPr>
          <a:xfrm>
            <a:off x="224476" y="6404651"/>
            <a:ext cx="6084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Fig. 2. Waveform (a) With double buffer (b) Without double buffer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993C5C-17FE-5965-A358-943787F60984}"/>
              </a:ext>
            </a:extLst>
          </p:cNvPr>
          <p:cNvSpPr txBox="1"/>
          <p:nvPr/>
        </p:nvSpPr>
        <p:spPr>
          <a:xfrm>
            <a:off x="817484" y="1493198"/>
            <a:ext cx="1127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Testcase: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CE6404-377B-7897-B6C3-1DB9F008D67F}"/>
                  </a:ext>
                </a:extLst>
              </p:cNvPr>
              <p:cNvSpPr txBox="1"/>
              <p:nvPr/>
            </p:nvSpPr>
            <p:spPr>
              <a:xfrm>
                <a:off x="1503318" y="2035280"/>
                <a:ext cx="1600438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CE6404-377B-7897-B6C3-1DB9F008D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18" y="2035280"/>
                <a:ext cx="1600438" cy="467500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927EF62-6C37-0ED1-653A-EF7AF8AC6402}"/>
              </a:ext>
            </a:extLst>
          </p:cNvPr>
          <p:cNvSpPr txBox="1"/>
          <p:nvPr/>
        </p:nvSpPr>
        <p:spPr>
          <a:xfrm>
            <a:off x="817484" y="208436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220756-BE95-D852-F64C-E2EBFB8B1354}"/>
                  </a:ext>
                </a:extLst>
              </p:cNvPr>
              <p:cNvSpPr txBox="1"/>
              <p:nvPr/>
            </p:nvSpPr>
            <p:spPr>
              <a:xfrm>
                <a:off x="1503318" y="2666812"/>
                <a:ext cx="1600438" cy="4619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220756-BE95-D852-F64C-E2EBFB8B1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18" y="2666812"/>
                <a:ext cx="1600438" cy="461986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5CB271A0-5975-2BB3-3E80-3AB6E8AB40A2}"/>
              </a:ext>
            </a:extLst>
          </p:cNvPr>
          <p:cNvSpPr txBox="1"/>
          <p:nvPr/>
        </p:nvSpPr>
        <p:spPr>
          <a:xfrm>
            <a:off x="817484" y="271589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Op2: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A54583-8557-7763-E2A6-C0CDD168D872}"/>
              </a:ext>
            </a:extLst>
          </p:cNvPr>
          <p:cNvSpPr txBox="1"/>
          <p:nvPr/>
        </p:nvSpPr>
        <p:spPr>
          <a:xfrm>
            <a:off x="3675352" y="1493198"/>
            <a:ext cx="1180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51B95FA-4C2E-AE4D-EC27-E2B6A89F6107}"/>
                  </a:ext>
                </a:extLst>
              </p:cNvPr>
              <p:cNvSpPr txBox="1"/>
              <p:nvPr/>
            </p:nvSpPr>
            <p:spPr>
              <a:xfrm>
                <a:off x="3633441" y="1991903"/>
                <a:ext cx="1149927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51B95FA-4C2E-AE4D-EC27-E2B6A89F6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441" y="1991903"/>
                <a:ext cx="1149927" cy="554254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80F11B2-A832-A549-B61C-543EAEA073C5}"/>
                  </a:ext>
                </a:extLst>
              </p:cNvPr>
              <p:cNvSpPr txBox="1"/>
              <p:nvPr/>
            </p:nvSpPr>
            <p:spPr>
              <a:xfrm>
                <a:off x="3501731" y="2620645"/>
                <a:ext cx="1149927" cy="55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80F11B2-A832-A549-B61C-543EAEA0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731" y="2620645"/>
                <a:ext cx="1149927" cy="554319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28E2EE5F-5E7C-D96E-9B2A-1C6C0182AA39}"/>
              </a:ext>
            </a:extLst>
          </p:cNvPr>
          <p:cNvSpPr txBox="1"/>
          <p:nvPr/>
        </p:nvSpPr>
        <p:spPr>
          <a:xfrm>
            <a:off x="5348770" y="1411349"/>
            <a:ext cx="13697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Functional Result: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1515F9-83A0-5998-771A-A66F0F55CE5C}"/>
              </a:ext>
            </a:extLst>
          </p:cNvPr>
          <p:cNvSpPr txBox="1"/>
          <p:nvPr/>
        </p:nvSpPr>
        <p:spPr>
          <a:xfrm>
            <a:off x="5455484" y="2098709"/>
            <a:ext cx="701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8A9E2B-E134-546B-8924-FA3734F1FE54}"/>
              </a:ext>
            </a:extLst>
          </p:cNvPr>
          <p:cNvSpPr txBox="1"/>
          <p:nvPr/>
        </p:nvSpPr>
        <p:spPr>
          <a:xfrm>
            <a:off x="5455483" y="2713217"/>
            <a:ext cx="701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46397A-D6E6-99CD-0A2C-D542722EC938}"/>
              </a:ext>
            </a:extLst>
          </p:cNvPr>
          <p:cNvSpPr txBox="1"/>
          <p:nvPr/>
        </p:nvSpPr>
        <p:spPr>
          <a:xfrm>
            <a:off x="144208" y="163746"/>
            <a:ext cx="8317569" cy="559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Demo for the 2x2 Systolic Array with Double Buffer </a:t>
            </a:r>
            <a:endParaRPr lang="en-US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cycle&#10;&#10;AI-generated content may be incorrect.">
            <a:extLst>
              <a:ext uri="{FF2B5EF4-FFF2-40B4-BE49-F238E27FC236}">
                <a16:creationId xmlns:a16="http://schemas.microsoft.com/office/drawing/2014/main" id="{122BEC87-C9DC-4861-FC9C-32DF7F531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3676" y="284281"/>
            <a:ext cx="3962027" cy="4857871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2C09E5-2917-CA5E-2588-C75D414BEB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476" y="3955130"/>
            <a:ext cx="8854364" cy="24247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56A903-3589-602C-34F3-4B6C0F8AFA3F}"/>
              </a:ext>
            </a:extLst>
          </p:cNvPr>
          <p:cNvSpPr txBox="1"/>
          <p:nvPr/>
        </p:nvSpPr>
        <p:spPr>
          <a:xfrm>
            <a:off x="4349669" y="3943841"/>
            <a:ext cx="673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Cycle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673DA-3CD2-E310-0968-E52A28F1C39B}"/>
              </a:ext>
            </a:extLst>
          </p:cNvPr>
          <p:cNvSpPr txBox="1"/>
          <p:nvPr/>
        </p:nvSpPr>
        <p:spPr>
          <a:xfrm>
            <a:off x="8113632" y="3943841"/>
            <a:ext cx="673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Cycle 8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1AD94B5-5046-3814-195B-C697B2B7BA35}"/>
              </a:ext>
            </a:extLst>
          </p:cNvPr>
          <p:cNvCxnSpPr>
            <a:cxnSpLocks/>
          </p:cNvCxnSpPr>
          <p:nvPr/>
        </p:nvCxnSpPr>
        <p:spPr>
          <a:xfrm>
            <a:off x="4798866" y="4363717"/>
            <a:ext cx="1063834" cy="233424"/>
          </a:xfrm>
          <a:prstGeom prst="bentConnector3">
            <a:avLst>
              <a:gd name="adj1" fmla="val 563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A77405CB-789B-17A4-EBE5-A7620E320F39}"/>
              </a:ext>
            </a:extLst>
          </p:cNvPr>
          <p:cNvCxnSpPr>
            <a:cxnSpLocks/>
          </p:cNvCxnSpPr>
          <p:nvPr/>
        </p:nvCxnSpPr>
        <p:spPr>
          <a:xfrm>
            <a:off x="5847202" y="4819685"/>
            <a:ext cx="942850" cy="2016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A87B58F-78C1-1606-E219-5D65D10CBA70}"/>
              </a:ext>
            </a:extLst>
          </p:cNvPr>
          <p:cNvCxnSpPr>
            <a:cxnSpLocks/>
          </p:cNvCxnSpPr>
          <p:nvPr/>
        </p:nvCxnSpPr>
        <p:spPr>
          <a:xfrm>
            <a:off x="6790052" y="5251578"/>
            <a:ext cx="942850" cy="2016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704D21-35BA-751C-24A0-E1865DB1F1E2}"/>
              </a:ext>
            </a:extLst>
          </p:cNvPr>
          <p:cNvCxnSpPr/>
          <p:nvPr/>
        </p:nvCxnSpPr>
        <p:spPr>
          <a:xfrm>
            <a:off x="5854951" y="4604890"/>
            <a:ext cx="0" cy="2147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448431-1707-F537-4E63-3058E12D2A8E}"/>
              </a:ext>
            </a:extLst>
          </p:cNvPr>
          <p:cNvCxnSpPr/>
          <p:nvPr/>
        </p:nvCxnSpPr>
        <p:spPr>
          <a:xfrm>
            <a:off x="6791810" y="5025225"/>
            <a:ext cx="0" cy="2147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E04192-D942-F0E9-1A0E-52AF8816417F}"/>
              </a:ext>
            </a:extLst>
          </p:cNvPr>
          <p:cNvCxnSpPr/>
          <p:nvPr/>
        </p:nvCxnSpPr>
        <p:spPr>
          <a:xfrm>
            <a:off x="7730622" y="5453178"/>
            <a:ext cx="0" cy="2147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B6FB31F-FCA5-DEE5-77E4-98CE73E3D7C9}"/>
              </a:ext>
            </a:extLst>
          </p:cNvPr>
          <p:cNvSpPr txBox="1"/>
          <p:nvPr/>
        </p:nvSpPr>
        <p:spPr>
          <a:xfrm>
            <a:off x="2491584" y="5640178"/>
            <a:ext cx="1968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Bit order: {PE22, 21, 12, 11}</a:t>
            </a:r>
          </a:p>
          <a:p>
            <a:r>
              <a:rPr lang="en-US" sz="1200" dirty="0" err="1">
                <a:solidFill>
                  <a:srgbClr val="FF0000"/>
                </a:solidFill>
              </a:rPr>
              <a:t>en</a:t>
            </a:r>
            <a:r>
              <a:rPr lang="en-US" sz="1200" dirty="0">
                <a:solidFill>
                  <a:srgbClr val="FF0000"/>
                </a:solidFill>
              </a:rPr>
              <a:t>: 0 for keep; 1 for load</a:t>
            </a:r>
          </a:p>
          <a:p>
            <a:r>
              <a:rPr lang="en-US" sz="1200" dirty="0" err="1">
                <a:solidFill>
                  <a:srgbClr val="FF0000"/>
                </a:solidFill>
              </a:rPr>
              <a:t>sel</a:t>
            </a:r>
            <a:r>
              <a:rPr lang="en-US" sz="1200" dirty="0">
                <a:solidFill>
                  <a:srgbClr val="FF0000"/>
                </a:solidFill>
              </a:rPr>
              <a:t>: 0 for buf0; 1 for buf1</a:t>
            </a:r>
          </a:p>
        </p:txBody>
      </p:sp>
    </p:spTree>
    <p:extLst>
      <p:ext uri="{BB962C8B-B14F-4D97-AF65-F5344CB8AC3E}">
        <p14:creationId xmlns:p14="http://schemas.microsoft.com/office/powerpoint/2010/main" val="3509473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210</Words>
  <Application>Microsoft Macintosh PowerPoint</Application>
  <PresentationFormat>Widescreen</PresentationFormat>
  <Paragraphs>66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 Runyang</dc:creator>
  <cp:lastModifiedBy>Tian, Runyang</cp:lastModifiedBy>
  <cp:revision>33</cp:revision>
  <dcterms:created xsi:type="dcterms:W3CDTF">2026-03-02T09:33:32Z</dcterms:created>
  <dcterms:modified xsi:type="dcterms:W3CDTF">2026-03-24T22:18:13Z</dcterms:modified>
</cp:coreProperties>
</file>