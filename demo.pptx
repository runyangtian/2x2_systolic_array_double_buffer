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20"/>
    <p:restoredTop sz="94702"/>
  </p:normalViewPr>
  <p:slideViewPr>
    <p:cSldViewPr snapToGrid="0">
      <p:cViewPr varScale="1">
        <p:scale>
          <a:sx n="113" d="100"/>
          <a:sy n="113" d="100"/>
        </p:scale>
        <p:origin x="6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046FF-EB74-3FA0-88F5-FFA3C3BC49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73DE41-8D73-1BA2-F694-F1B82BDBA9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7C67A9-BE6D-ACDA-F890-B3C81F857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C25E0-BEC4-2F86-5829-CD8F5D11A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0D08D-4972-1312-988C-0464D762B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762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BE82E-4386-BC09-F15B-3588738D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3C2E1-BD71-D4BB-2C9C-6841530F5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2167F-1458-6371-7EF9-7C8F057C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09BFBE-569F-AA79-177B-4A5F0C277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8D5F7B-87BC-74EE-D2E6-18AA85408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943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DEEBA-70DA-70C7-6D94-84BBC7741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BBFC8-FC67-7D6A-C612-6F57648A44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9131D-75CD-E9AE-4743-3C25A1839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FF666-BEFF-AC7A-C1AE-04410C481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6B7AD-00A3-72BD-E708-5C5688D20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3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70856-6791-DDF0-3353-0607CB535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61769-89F6-57F5-CD0B-2920EAAE20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9AF795-297E-7F0E-AC06-FB79165EA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F6E5B3-0F6C-BB1F-5195-98B4E457F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2AE289-B92B-905C-538F-933A09747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55F808-7481-4A00-6A1D-24D04904D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96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28EB4-49DA-3521-DF17-570738BAE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0E1BD0-B092-99CB-4111-E939119007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696703-841B-C20C-C6C7-04D2208084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C7AD36-B9E2-BEF7-AE53-8971C74742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3BB64C-78C4-7734-52C1-A0793BB5BB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80AE88-1B94-1056-A5EF-6239970A4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C36D25-5FC3-D554-808E-D4EF32391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C24F5C-FE86-964B-DEEB-B5C8D3C70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4144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C1737-057F-3AD9-A360-8E6CDE22F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DF443E-AE3E-5BED-E786-53111E00B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456F8A-A559-8763-4C10-2DDA0B9CC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8DB325-3122-0121-F255-A63F0AA4D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352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B26AE4-C04B-2D18-62AD-E8C06EC69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584974-3D7F-870E-23ED-9E66AFD77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9C0B6-0731-AB50-760D-BBC8ADA37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049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278F1-4BB7-E6D9-E640-E903E7EF8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B2BEA9-0AC2-CF8A-EC1C-D056523E0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B937E-39F9-7C9F-C750-99F515D7F3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EEC8D-9FA5-78CA-5239-968107655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55ABF0-F1EE-61D0-40B2-6BAB9F33E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455F69-3000-DCAE-58F6-411F3B8FD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523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5DF4F-4BEB-3B72-170C-42DD11320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E339A6-D959-F1C8-F04A-4DC586C1FB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6E9115-5C5A-671E-487F-9B81D65348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215E21-7AA1-E138-1D9D-DC5AAFC4B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9195BA-2412-7756-F3DE-B367568F9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DA50D-BA66-F5D0-F191-3E76F8E41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756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A2A2D-12CC-1A8A-8B33-7683531E2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A4983-8E59-CF53-93ED-C9222231D2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EA7EDE-3ABD-48F3-C777-AE39DA1D5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0784B-55AC-8EBA-13D2-BCE151F16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891D69-E9D7-0529-22B2-04B022197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5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70BA35-2155-F666-1996-0C2B26A420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AEF28F-2B8B-A69F-E9AF-32F1FB11F3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75088-D813-C886-AF44-C4F0F25B9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CC811-3360-9A6B-AC08-07EFD77F2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737F31-B08B-BE8C-ECD0-3083CAFC2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674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79880F-F344-5E54-E513-6603DEC7C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E53BD-478A-ABFA-7D66-DC177BB49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A6E9B0-BF2B-6810-BC18-B9C96F5718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1D0FCA-53D0-564C-86B9-6B61E7864998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94BB1B-0269-9F89-3048-D524C19E8B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35A71-C370-4D2B-8DDD-44D328386F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474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A4A97170-85AD-FBBB-8028-F86684A093D8}"/>
              </a:ext>
            </a:extLst>
          </p:cNvPr>
          <p:cNvSpPr txBox="1"/>
          <p:nvPr/>
        </p:nvSpPr>
        <p:spPr>
          <a:xfrm>
            <a:off x="144208" y="163746"/>
            <a:ext cx="8317569" cy="559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800" kern="1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Demo for the 2x2 Systolic Array with Double Buffer </a:t>
            </a:r>
            <a:endParaRPr lang="en-US" sz="28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4A3E4EB-DEBD-9C0E-63E3-D345E354B843}"/>
              </a:ext>
            </a:extLst>
          </p:cNvPr>
          <p:cNvGrpSpPr/>
          <p:nvPr/>
        </p:nvGrpSpPr>
        <p:grpSpPr>
          <a:xfrm>
            <a:off x="3957331" y="2850948"/>
            <a:ext cx="2149044" cy="2745199"/>
            <a:chOff x="1043564" y="872539"/>
            <a:chExt cx="2149044" cy="2745199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D4F5732-DD18-FEF9-AC23-561E8C219D47}"/>
                </a:ext>
              </a:extLst>
            </p:cNvPr>
            <p:cNvSpPr/>
            <p:nvPr/>
          </p:nvSpPr>
          <p:spPr>
            <a:xfrm>
              <a:off x="1542362" y="1446945"/>
              <a:ext cx="539826" cy="53982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PE11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0647165C-C4A1-9FA3-2FCC-3840E2F6C0A7}"/>
                </a:ext>
              </a:extLst>
            </p:cNvPr>
            <p:cNvSpPr/>
            <p:nvPr/>
          </p:nvSpPr>
          <p:spPr>
            <a:xfrm>
              <a:off x="2622014" y="1446945"/>
              <a:ext cx="539826" cy="53982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PE12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2100FAB-EC6E-5060-A8BD-90943B9668D5}"/>
                </a:ext>
              </a:extLst>
            </p:cNvPr>
            <p:cNvSpPr/>
            <p:nvPr/>
          </p:nvSpPr>
          <p:spPr>
            <a:xfrm>
              <a:off x="1542362" y="2526597"/>
              <a:ext cx="539826" cy="53982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PE21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79205D11-7317-C27A-66D0-443FF29F339D}"/>
                </a:ext>
              </a:extLst>
            </p:cNvPr>
            <p:cNvSpPr/>
            <p:nvPr/>
          </p:nvSpPr>
          <p:spPr>
            <a:xfrm>
              <a:off x="2622014" y="2526597"/>
              <a:ext cx="539826" cy="53982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PE22</a:t>
              </a: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6AF502F4-C165-7ACE-D8A5-8CE7195D53FB}"/>
                </a:ext>
              </a:extLst>
            </p:cNvPr>
            <p:cNvCxnSpPr>
              <a:stCxn id="40" idx="3"/>
              <a:endCxn id="43" idx="1"/>
            </p:cNvCxnSpPr>
            <p:nvPr/>
          </p:nvCxnSpPr>
          <p:spPr>
            <a:xfrm>
              <a:off x="2082188" y="1716858"/>
              <a:ext cx="5398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588366FD-EEC6-002C-D3B8-07DF5FB61BD5}"/>
                </a:ext>
              </a:extLst>
            </p:cNvPr>
            <p:cNvCxnSpPr>
              <a:cxnSpLocks/>
              <a:stCxn id="40" idx="2"/>
              <a:endCxn id="47" idx="0"/>
            </p:cNvCxnSpPr>
            <p:nvPr/>
          </p:nvCxnSpPr>
          <p:spPr>
            <a:xfrm>
              <a:off x="1812275" y="1986771"/>
              <a:ext cx="0" cy="53982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11BB0BCF-45BE-B3F7-28EB-7A43E5D24254}"/>
                </a:ext>
              </a:extLst>
            </p:cNvPr>
            <p:cNvCxnSpPr>
              <a:cxnSpLocks/>
              <a:stCxn id="43" idx="2"/>
              <a:endCxn id="49" idx="0"/>
            </p:cNvCxnSpPr>
            <p:nvPr/>
          </p:nvCxnSpPr>
          <p:spPr>
            <a:xfrm>
              <a:off x="2891927" y="1986771"/>
              <a:ext cx="0" cy="53982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2A5ADF67-0F7B-3739-5EC8-908D8F6E1565}"/>
                </a:ext>
              </a:extLst>
            </p:cNvPr>
            <p:cNvCxnSpPr>
              <a:cxnSpLocks/>
              <a:stCxn id="47" idx="3"/>
              <a:endCxn id="49" idx="1"/>
            </p:cNvCxnSpPr>
            <p:nvPr/>
          </p:nvCxnSpPr>
          <p:spPr>
            <a:xfrm>
              <a:off x="2082188" y="2796510"/>
              <a:ext cx="5398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7EC87F2A-E17A-1E5A-B36A-2D3BE69C2765}"/>
                </a:ext>
              </a:extLst>
            </p:cNvPr>
            <p:cNvCxnSpPr>
              <a:cxnSpLocks/>
              <a:endCxn id="40" idx="1"/>
            </p:cNvCxnSpPr>
            <p:nvPr/>
          </p:nvCxnSpPr>
          <p:spPr>
            <a:xfrm>
              <a:off x="1304628" y="1716858"/>
              <a:ext cx="23773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CC247092-FFD8-5FD1-745E-F1B56CA11B2A}"/>
                </a:ext>
              </a:extLst>
            </p:cNvPr>
            <p:cNvCxnSpPr>
              <a:cxnSpLocks/>
              <a:endCxn id="47" idx="1"/>
            </p:cNvCxnSpPr>
            <p:nvPr/>
          </p:nvCxnSpPr>
          <p:spPr>
            <a:xfrm>
              <a:off x="1304628" y="2796510"/>
              <a:ext cx="23773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9B6DFC5B-C07D-B248-265B-FB3F732EF71F}"/>
                </a:ext>
              </a:extLst>
            </p:cNvPr>
            <p:cNvCxnSpPr>
              <a:cxnSpLocks/>
              <a:endCxn id="40" idx="0"/>
            </p:cNvCxnSpPr>
            <p:nvPr/>
          </p:nvCxnSpPr>
          <p:spPr>
            <a:xfrm>
              <a:off x="1812275" y="1177032"/>
              <a:ext cx="0" cy="2699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FE1B4030-DEA5-D7F8-6B45-0CAFD94C8A23}"/>
                </a:ext>
              </a:extLst>
            </p:cNvPr>
            <p:cNvCxnSpPr>
              <a:cxnSpLocks/>
              <a:endCxn id="43" idx="0"/>
            </p:cNvCxnSpPr>
            <p:nvPr/>
          </p:nvCxnSpPr>
          <p:spPr>
            <a:xfrm>
              <a:off x="2891927" y="1177032"/>
              <a:ext cx="0" cy="2699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BFAF2F4-6C6B-B6F7-77B1-F854C75DC120}"/>
                </a:ext>
              </a:extLst>
            </p:cNvPr>
            <p:cNvCxnSpPr>
              <a:cxnSpLocks/>
              <a:stCxn id="47" idx="2"/>
            </p:cNvCxnSpPr>
            <p:nvPr/>
          </p:nvCxnSpPr>
          <p:spPr>
            <a:xfrm>
              <a:off x="1812275" y="3066423"/>
              <a:ext cx="0" cy="2699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4BF65B5A-D41E-44AC-A652-BD2DCC932034}"/>
                </a:ext>
              </a:extLst>
            </p:cNvPr>
            <p:cNvCxnSpPr>
              <a:cxnSpLocks/>
              <a:stCxn id="49" idx="2"/>
            </p:cNvCxnSpPr>
            <p:nvPr/>
          </p:nvCxnSpPr>
          <p:spPr>
            <a:xfrm>
              <a:off x="2891927" y="3066423"/>
              <a:ext cx="0" cy="2699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D934EACA-80EF-F724-B861-31279A45B39F}"/>
                </a:ext>
              </a:extLst>
            </p:cNvPr>
            <p:cNvSpPr txBox="1"/>
            <p:nvPr/>
          </p:nvSpPr>
          <p:spPr>
            <a:xfrm rot="5400000">
              <a:off x="1626945" y="2094179"/>
              <a:ext cx="6896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psum</a:t>
              </a:r>
              <a:endParaRPr lang="en-US" sz="1600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5BD8A36-A372-8482-AF5C-AFAC215FF89B}"/>
                </a:ext>
              </a:extLst>
            </p:cNvPr>
            <p:cNvSpPr txBox="1"/>
            <p:nvPr/>
          </p:nvSpPr>
          <p:spPr>
            <a:xfrm rot="5400000">
              <a:off x="2678525" y="2087407"/>
              <a:ext cx="6896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psum</a:t>
              </a:r>
              <a:endParaRPr lang="en-US" sz="1600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4D9033B4-B9B5-334A-911F-0151DAC4EE00}"/>
                </a:ext>
              </a:extLst>
            </p:cNvPr>
            <p:cNvSpPr txBox="1"/>
            <p:nvPr/>
          </p:nvSpPr>
          <p:spPr>
            <a:xfrm>
              <a:off x="2213418" y="1378304"/>
              <a:ext cx="29367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2FDC7E4-303D-F4EE-EF7E-2B900FEB732E}"/>
                </a:ext>
              </a:extLst>
            </p:cNvPr>
            <p:cNvSpPr txBox="1"/>
            <p:nvPr/>
          </p:nvSpPr>
          <p:spPr>
            <a:xfrm>
              <a:off x="2216015" y="2457956"/>
              <a:ext cx="29367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FF8D24A-7739-0136-13AE-16D43BF12DBF}"/>
                </a:ext>
              </a:extLst>
            </p:cNvPr>
            <p:cNvSpPr txBox="1"/>
            <p:nvPr/>
          </p:nvSpPr>
          <p:spPr>
            <a:xfrm>
              <a:off x="1662234" y="872539"/>
              <a:ext cx="3000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b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60BFC00-C83E-AC29-AC2D-3615E731B1AB}"/>
                </a:ext>
              </a:extLst>
            </p:cNvPr>
            <p:cNvSpPr txBox="1"/>
            <p:nvPr/>
          </p:nvSpPr>
          <p:spPr>
            <a:xfrm>
              <a:off x="2741886" y="872539"/>
              <a:ext cx="3000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b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8DDA6307-F7B8-3A1E-CDEA-DD86B7B2A544}"/>
                </a:ext>
              </a:extLst>
            </p:cNvPr>
            <p:cNvSpPr txBox="1"/>
            <p:nvPr/>
          </p:nvSpPr>
          <p:spPr>
            <a:xfrm>
              <a:off x="1043564" y="1544982"/>
              <a:ext cx="29367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FF34C0B-B3BF-54FF-0DFD-1C7C780ED24A}"/>
                </a:ext>
              </a:extLst>
            </p:cNvPr>
            <p:cNvSpPr txBox="1"/>
            <p:nvPr/>
          </p:nvSpPr>
          <p:spPr>
            <a:xfrm>
              <a:off x="1046161" y="2624634"/>
              <a:ext cx="29367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C2FBBF18-F123-DD49-0AEF-C985749B2BA3}"/>
                </a:ext>
              </a:extLst>
            </p:cNvPr>
            <p:cNvSpPr txBox="1"/>
            <p:nvPr/>
          </p:nvSpPr>
          <p:spPr>
            <a:xfrm>
              <a:off x="1667931" y="3279184"/>
              <a:ext cx="3000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c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8727C08-5E06-C1A7-44C4-FA15C2E45E60}"/>
                </a:ext>
              </a:extLst>
            </p:cNvPr>
            <p:cNvSpPr txBox="1"/>
            <p:nvPr/>
          </p:nvSpPr>
          <p:spPr>
            <a:xfrm>
              <a:off x="2747583" y="3279184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c</a:t>
              </a: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755CC104-C167-C780-DBDF-5B961B5DF08C}"/>
              </a:ext>
            </a:extLst>
          </p:cNvPr>
          <p:cNvSpPr txBox="1"/>
          <p:nvPr/>
        </p:nvSpPr>
        <p:spPr>
          <a:xfrm>
            <a:off x="506600" y="1532664"/>
            <a:ext cx="63171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runyangtian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/2x2_systolic_array_double_buffer.git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80E097D-2002-95DD-7CFF-A45B0F4C0BC9}"/>
              </a:ext>
            </a:extLst>
          </p:cNvPr>
          <p:cNvSpPr txBox="1"/>
          <p:nvPr/>
        </p:nvSpPr>
        <p:spPr>
          <a:xfrm>
            <a:off x="211972" y="939178"/>
            <a:ext cx="1846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Source code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71E2439-4AFA-DFB1-E984-43A9915A5368}"/>
              </a:ext>
            </a:extLst>
          </p:cNvPr>
          <p:cNvSpPr txBox="1"/>
          <p:nvPr/>
        </p:nvSpPr>
        <p:spPr>
          <a:xfrm>
            <a:off x="213211" y="2176417"/>
            <a:ext cx="1846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Architecture</a:t>
            </a:r>
          </a:p>
        </p:txBody>
      </p:sp>
      <p:sp>
        <p:nvSpPr>
          <p:cNvPr id="100" name="Trapezoid 99">
            <a:extLst>
              <a:ext uri="{FF2B5EF4-FFF2-40B4-BE49-F238E27FC236}">
                <a16:creationId xmlns:a16="http://schemas.microsoft.com/office/drawing/2014/main" id="{694300FE-9BD1-AA4C-BC21-0E2D08E6C82B}"/>
              </a:ext>
            </a:extLst>
          </p:cNvPr>
          <p:cNvSpPr/>
          <p:nvPr/>
        </p:nvSpPr>
        <p:spPr>
          <a:xfrm rot="10800000">
            <a:off x="8682087" y="3206636"/>
            <a:ext cx="672575" cy="269915"/>
          </a:xfrm>
          <a:prstGeom prst="trapezoid">
            <a:avLst>
              <a:gd name="adj" fmla="val 4686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1E02433B-91DD-8638-2B75-C7156EE6C147}"/>
              </a:ext>
            </a:extLst>
          </p:cNvPr>
          <p:cNvCxnSpPr>
            <a:cxnSpLocks/>
            <a:stCxn id="100" idx="0"/>
            <a:endCxn id="103" idx="0"/>
          </p:cNvCxnSpPr>
          <p:nvPr/>
        </p:nvCxnSpPr>
        <p:spPr>
          <a:xfrm rot="5400000" flipH="1" flipV="1">
            <a:off x="8965795" y="3259215"/>
            <a:ext cx="269915" cy="164758"/>
          </a:xfrm>
          <a:prstGeom prst="bentConnector5">
            <a:avLst>
              <a:gd name="adj1" fmla="val -84693"/>
              <a:gd name="adj2" fmla="val 342859"/>
              <a:gd name="adj3" fmla="val 18469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934F79D-D2DD-F259-BEE3-075784873412}"/>
              </a:ext>
            </a:extLst>
          </p:cNvPr>
          <p:cNvSpPr/>
          <p:nvPr/>
        </p:nvSpPr>
        <p:spPr>
          <a:xfrm>
            <a:off x="9079615" y="3206636"/>
            <a:ext cx="207034" cy="1530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7002D93-5B76-8E7A-0992-6370791DB3A3}"/>
              </a:ext>
            </a:extLst>
          </p:cNvPr>
          <p:cNvSpPr/>
          <p:nvPr/>
        </p:nvSpPr>
        <p:spPr>
          <a:xfrm>
            <a:off x="8760683" y="3206636"/>
            <a:ext cx="312161" cy="2699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C0D8D2F3-5787-400B-1516-905FEE4C58DA}"/>
              </a:ext>
            </a:extLst>
          </p:cNvPr>
          <p:cNvCxnSpPr>
            <a:cxnSpLocks/>
            <a:stCxn id="111" idx="2"/>
            <a:endCxn id="108" idx="0"/>
          </p:cNvCxnSpPr>
          <p:nvPr/>
        </p:nvCxnSpPr>
        <p:spPr>
          <a:xfrm flipH="1">
            <a:off x="8916764" y="2639372"/>
            <a:ext cx="687" cy="567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A1625374-2449-50CE-2C4E-98F270CF5267}"/>
              </a:ext>
            </a:extLst>
          </p:cNvPr>
          <p:cNvSpPr txBox="1"/>
          <p:nvPr/>
        </p:nvSpPr>
        <p:spPr>
          <a:xfrm>
            <a:off x="8767410" y="2300818"/>
            <a:ext cx="3000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</a:t>
            </a:r>
          </a:p>
        </p:txBody>
      </p:sp>
      <p:sp>
        <p:nvSpPr>
          <p:cNvPr id="112" name="Trapezoid 111">
            <a:extLst>
              <a:ext uri="{FF2B5EF4-FFF2-40B4-BE49-F238E27FC236}">
                <a16:creationId xmlns:a16="http://schemas.microsoft.com/office/drawing/2014/main" id="{427ACFB9-EC69-CE40-30CE-2C42C4A503CA}"/>
              </a:ext>
            </a:extLst>
          </p:cNvPr>
          <p:cNvSpPr/>
          <p:nvPr/>
        </p:nvSpPr>
        <p:spPr>
          <a:xfrm rot="10800000">
            <a:off x="9716799" y="3206636"/>
            <a:ext cx="672575" cy="269915"/>
          </a:xfrm>
          <a:prstGeom prst="trapezoid">
            <a:avLst>
              <a:gd name="adj" fmla="val 4686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3" name="Elbow Connector 112">
            <a:extLst>
              <a:ext uri="{FF2B5EF4-FFF2-40B4-BE49-F238E27FC236}">
                <a16:creationId xmlns:a16="http://schemas.microsoft.com/office/drawing/2014/main" id="{5DA57B32-F51C-AA07-EBDC-E6C0CB140833}"/>
              </a:ext>
            </a:extLst>
          </p:cNvPr>
          <p:cNvCxnSpPr>
            <a:cxnSpLocks/>
            <a:stCxn id="112" idx="0"/>
            <a:endCxn id="114" idx="0"/>
          </p:cNvCxnSpPr>
          <p:nvPr/>
        </p:nvCxnSpPr>
        <p:spPr>
          <a:xfrm rot="5400000" flipH="1" flipV="1">
            <a:off x="10000507" y="3259215"/>
            <a:ext cx="269915" cy="164758"/>
          </a:xfrm>
          <a:prstGeom prst="bentConnector5">
            <a:avLst>
              <a:gd name="adj1" fmla="val -84693"/>
              <a:gd name="adj2" fmla="val 342859"/>
              <a:gd name="adj3" fmla="val 18469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215ED8B-BBF2-6916-8320-13FF17391671}"/>
              </a:ext>
            </a:extLst>
          </p:cNvPr>
          <p:cNvSpPr/>
          <p:nvPr/>
        </p:nvSpPr>
        <p:spPr>
          <a:xfrm>
            <a:off x="10114327" y="3206636"/>
            <a:ext cx="207034" cy="1530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D72D8EC0-29D5-E9FA-AA81-807CF2ECE1E3}"/>
              </a:ext>
            </a:extLst>
          </p:cNvPr>
          <p:cNvSpPr/>
          <p:nvPr/>
        </p:nvSpPr>
        <p:spPr>
          <a:xfrm>
            <a:off x="9839280" y="3206636"/>
            <a:ext cx="207034" cy="1530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C21311D1-98CA-51D1-E458-B4A6DBBDBEB3}"/>
              </a:ext>
            </a:extLst>
          </p:cNvPr>
          <p:cNvCxnSpPr>
            <a:cxnSpLocks/>
            <a:stCxn id="100" idx="0"/>
            <a:endCxn id="127" idx="0"/>
          </p:cNvCxnSpPr>
          <p:nvPr/>
        </p:nvCxnSpPr>
        <p:spPr>
          <a:xfrm flipH="1">
            <a:off x="9014989" y="3476551"/>
            <a:ext cx="3385" cy="5852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92851F6E-712B-C24A-3ED7-0E77DF6F2076}"/>
              </a:ext>
            </a:extLst>
          </p:cNvPr>
          <p:cNvCxnSpPr>
            <a:cxnSpLocks/>
            <a:stCxn id="112" idx="0"/>
            <a:endCxn id="131" idx="0"/>
          </p:cNvCxnSpPr>
          <p:nvPr/>
        </p:nvCxnSpPr>
        <p:spPr>
          <a:xfrm flipH="1">
            <a:off x="10046314" y="3476551"/>
            <a:ext cx="6772" cy="5920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BC0BEC7D-7E2F-44DB-CFD8-CC3EDAE0BF13}"/>
              </a:ext>
            </a:extLst>
          </p:cNvPr>
          <p:cNvSpPr/>
          <p:nvPr/>
        </p:nvSpPr>
        <p:spPr>
          <a:xfrm>
            <a:off x="8743330" y="4061790"/>
            <a:ext cx="543317" cy="3420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DFF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13275620-7502-CC02-6F6A-1CC97DDDBEE7}"/>
              </a:ext>
            </a:extLst>
          </p:cNvPr>
          <p:cNvSpPr/>
          <p:nvPr/>
        </p:nvSpPr>
        <p:spPr>
          <a:xfrm>
            <a:off x="9774655" y="4068562"/>
            <a:ext cx="543317" cy="3420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DFF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077454D-F1DF-844C-FD37-98F01EE4E1A6}"/>
              </a:ext>
            </a:extLst>
          </p:cNvPr>
          <p:cNvSpPr/>
          <p:nvPr/>
        </p:nvSpPr>
        <p:spPr>
          <a:xfrm>
            <a:off x="8703689" y="2693486"/>
            <a:ext cx="207034" cy="1530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7" name="Elbow Connector 136">
            <a:extLst>
              <a:ext uri="{FF2B5EF4-FFF2-40B4-BE49-F238E27FC236}">
                <a16:creationId xmlns:a16="http://schemas.microsoft.com/office/drawing/2014/main" id="{3D8971FF-B742-095E-B184-36158044E464}"/>
              </a:ext>
            </a:extLst>
          </p:cNvPr>
          <p:cNvCxnSpPr>
            <a:cxnSpLocks/>
            <a:stCxn id="133" idx="3"/>
            <a:endCxn id="115" idx="0"/>
          </p:cNvCxnSpPr>
          <p:nvPr/>
        </p:nvCxnSpPr>
        <p:spPr>
          <a:xfrm>
            <a:off x="8910723" y="2769992"/>
            <a:ext cx="1032074" cy="43664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038C5D17-272F-F61F-E048-0B10C238B5CB}"/>
              </a:ext>
            </a:extLst>
          </p:cNvPr>
          <p:cNvSpPr txBox="1"/>
          <p:nvPr/>
        </p:nvSpPr>
        <p:spPr>
          <a:xfrm>
            <a:off x="7497423" y="3172316"/>
            <a:ext cx="9643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/>
              <a:t>load_sel</a:t>
            </a:r>
            <a:endParaRPr lang="en-US" sz="1600" dirty="0"/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11ACEABB-A9C8-06A1-6A51-1002881F1707}"/>
              </a:ext>
            </a:extLst>
          </p:cNvPr>
          <p:cNvCxnSpPr>
            <a:cxnSpLocks/>
            <a:stCxn id="142" idx="3"/>
            <a:endCxn id="100" idx="3"/>
          </p:cNvCxnSpPr>
          <p:nvPr/>
        </p:nvCxnSpPr>
        <p:spPr>
          <a:xfrm>
            <a:off x="8461777" y="3341593"/>
            <a:ext cx="2835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3F5C497-5505-2ED2-4B56-E04CDD637A9D}"/>
              </a:ext>
            </a:extLst>
          </p:cNvPr>
          <p:cNvSpPr/>
          <p:nvPr/>
        </p:nvSpPr>
        <p:spPr>
          <a:xfrm>
            <a:off x="8913083" y="3359036"/>
            <a:ext cx="312161" cy="2699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A0DF0915-5168-50CF-43A7-34FE0BFA44D5}"/>
              </a:ext>
            </a:extLst>
          </p:cNvPr>
          <p:cNvSpPr txBox="1"/>
          <p:nvPr/>
        </p:nvSpPr>
        <p:spPr>
          <a:xfrm>
            <a:off x="10737965" y="3179503"/>
            <a:ext cx="10554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~</a:t>
            </a:r>
            <a:r>
              <a:rPr lang="en-US" sz="1600" dirty="0" err="1"/>
              <a:t>load_sel</a:t>
            </a:r>
            <a:endParaRPr lang="en-US" sz="1600" dirty="0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45685229-56C6-55E5-2DEA-1BFBFB249FA4}"/>
              </a:ext>
            </a:extLst>
          </p:cNvPr>
          <p:cNvCxnSpPr>
            <a:cxnSpLocks/>
          </p:cNvCxnSpPr>
          <p:nvPr/>
        </p:nvCxnSpPr>
        <p:spPr>
          <a:xfrm flipH="1">
            <a:off x="10317972" y="3353933"/>
            <a:ext cx="4569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rapezoid 167">
            <a:extLst>
              <a:ext uri="{FF2B5EF4-FFF2-40B4-BE49-F238E27FC236}">
                <a16:creationId xmlns:a16="http://schemas.microsoft.com/office/drawing/2014/main" id="{1C85CD1E-BB36-C081-9DAA-3DD4FE3550C0}"/>
              </a:ext>
            </a:extLst>
          </p:cNvPr>
          <p:cNvSpPr/>
          <p:nvPr/>
        </p:nvSpPr>
        <p:spPr>
          <a:xfrm rot="10800000">
            <a:off x="9205540" y="4696121"/>
            <a:ext cx="672575" cy="269915"/>
          </a:xfrm>
          <a:prstGeom prst="trapezoid">
            <a:avLst>
              <a:gd name="adj" fmla="val 4686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6200A200-CD2C-B573-45EE-50B42BD94E00}"/>
              </a:ext>
            </a:extLst>
          </p:cNvPr>
          <p:cNvSpPr/>
          <p:nvPr/>
        </p:nvSpPr>
        <p:spPr>
          <a:xfrm>
            <a:off x="9567621" y="4694914"/>
            <a:ext cx="207034" cy="1530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81FECF8-B72E-F5F0-E6CD-D41C6778EB2A}"/>
              </a:ext>
            </a:extLst>
          </p:cNvPr>
          <p:cNvSpPr/>
          <p:nvPr/>
        </p:nvSpPr>
        <p:spPr>
          <a:xfrm>
            <a:off x="9292574" y="4694914"/>
            <a:ext cx="207034" cy="1530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70">
            <a:extLst>
              <a:ext uri="{FF2B5EF4-FFF2-40B4-BE49-F238E27FC236}">
                <a16:creationId xmlns:a16="http://schemas.microsoft.com/office/drawing/2014/main" id="{88E38B36-2A26-E927-6EA0-D45EEF44FA40}"/>
              </a:ext>
            </a:extLst>
          </p:cNvPr>
          <p:cNvCxnSpPr>
            <a:cxnSpLocks/>
            <a:stCxn id="127" idx="2"/>
            <a:endCxn id="170" idx="0"/>
          </p:cNvCxnSpPr>
          <p:nvPr/>
        </p:nvCxnSpPr>
        <p:spPr>
          <a:xfrm rot="16200000" flipH="1">
            <a:off x="9059985" y="4358808"/>
            <a:ext cx="291110" cy="3811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Elbow Connector 175">
            <a:extLst>
              <a:ext uri="{FF2B5EF4-FFF2-40B4-BE49-F238E27FC236}">
                <a16:creationId xmlns:a16="http://schemas.microsoft.com/office/drawing/2014/main" id="{F44B6453-C235-9035-2841-64B856C9A5D3}"/>
              </a:ext>
            </a:extLst>
          </p:cNvPr>
          <p:cNvCxnSpPr>
            <a:cxnSpLocks/>
            <a:stCxn id="131" idx="2"/>
            <a:endCxn id="169" idx="0"/>
          </p:cNvCxnSpPr>
          <p:nvPr/>
        </p:nvCxnSpPr>
        <p:spPr>
          <a:xfrm rot="5400000">
            <a:off x="9716557" y="4365157"/>
            <a:ext cx="284338" cy="3751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A3527DBF-83FC-29B7-E2FD-79C8B39152CB}"/>
              </a:ext>
            </a:extLst>
          </p:cNvPr>
          <p:cNvSpPr txBox="1"/>
          <p:nvPr/>
        </p:nvSpPr>
        <p:spPr>
          <a:xfrm>
            <a:off x="8153959" y="4670808"/>
            <a:ext cx="8270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/>
              <a:t>act_sel</a:t>
            </a:r>
            <a:endParaRPr lang="en-US" sz="1600" dirty="0"/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AA155EE7-1F95-2CC5-9EC6-6D75D4DA006E}"/>
              </a:ext>
            </a:extLst>
          </p:cNvPr>
          <p:cNvCxnSpPr>
            <a:cxnSpLocks/>
            <a:stCxn id="179" idx="3"/>
          </p:cNvCxnSpPr>
          <p:nvPr/>
        </p:nvCxnSpPr>
        <p:spPr>
          <a:xfrm>
            <a:off x="8980983" y="4840085"/>
            <a:ext cx="2835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C371088D-6AD8-B5E6-5462-0E83949A44FB}"/>
              </a:ext>
            </a:extLst>
          </p:cNvPr>
          <p:cNvSpPr/>
          <p:nvPr/>
        </p:nvSpPr>
        <p:spPr>
          <a:xfrm>
            <a:off x="9902479" y="5015324"/>
            <a:ext cx="375176" cy="37517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D39A549D-1EF4-E3E4-B29A-93CAB1F29EC6}"/>
                  </a:ext>
                </a:extLst>
              </p:cNvPr>
              <p:cNvSpPr txBox="1"/>
              <p:nvPr/>
            </p:nvSpPr>
            <p:spPr>
              <a:xfrm>
                <a:off x="9884334" y="5009653"/>
                <a:ext cx="44954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D39A549D-1EF4-E3E4-B29A-93CAB1F29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4334" y="5009653"/>
                <a:ext cx="44954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Elbow Connector 184">
            <a:extLst>
              <a:ext uri="{FF2B5EF4-FFF2-40B4-BE49-F238E27FC236}">
                <a16:creationId xmlns:a16="http://schemas.microsoft.com/office/drawing/2014/main" id="{AF6D46F3-5FDB-31C3-4E75-AF396BD2C519}"/>
              </a:ext>
            </a:extLst>
          </p:cNvPr>
          <p:cNvCxnSpPr>
            <a:cxnSpLocks/>
            <a:stCxn id="168" idx="0"/>
          </p:cNvCxnSpPr>
          <p:nvPr/>
        </p:nvCxnSpPr>
        <p:spPr>
          <a:xfrm rot="16200000" flipH="1">
            <a:off x="9686932" y="4820931"/>
            <a:ext cx="110760" cy="40097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91E0623F-B8D7-E431-EA99-11CA02BBA1FA}"/>
              </a:ext>
            </a:extLst>
          </p:cNvPr>
          <p:cNvCxnSpPr>
            <a:cxnSpLocks/>
          </p:cNvCxnSpPr>
          <p:nvPr/>
        </p:nvCxnSpPr>
        <p:spPr>
          <a:xfrm>
            <a:off x="9000233" y="5290463"/>
            <a:ext cx="935451" cy="4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8361B56-439D-BBD3-7140-8B93EE19A346}"/>
              </a:ext>
            </a:extLst>
          </p:cNvPr>
          <p:cNvSpPr txBox="1"/>
          <p:nvPr/>
        </p:nvSpPr>
        <p:spPr>
          <a:xfrm>
            <a:off x="8693679" y="5101765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</a:t>
            </a: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24D203EC-F801-7540-0218-7ECDB65C46D8}"/>
              </a:ext>
            </a:extLst>
          </p:cNvPr>
          <p:cNvSpPr/>
          <p:nvPr/>
        </p:nvSpPr>
        <p:spPr>
          <a:xfrm>
            <a:off x="10704590" y="4909158"/>
            <a:ext cx="375176" cy="37517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014E5F0B-2D04-781A-D15C-5135FDB36F19}"/>
                  </a:ext>
                </a:extLst>
              </p:cNvPr>
              <p:cNvSpPr txBox="1"/>
              <p:nvPr/>
            </p:nvSpPr>
            <p:spPr>
              <a:xfrm>
                <a:off x="10686445" y="4903487"/>
                <a:ext cx="44954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014E5F0B-2D04-781A-D15C-5135FDB36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86445" y="4903487"/>
                <a:ext cx="44954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8AD7BEFE-492B-5201-8F5F-E02A2CABE238}"/>
              </a:ext>
            </a:extLst>
          </p:cNvPr>
          <p:cNvCxnSpPr>
            <a:cxnSpLocks/>
          </p:cNvCxnSpPr>
          <p:nvPr/>
        </p:nvCxnSpPr>
        <p:spPr>
          <a:xfrm>
            <a:off x="10287280" y="5208906"/>
            <a:ext cx="4506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Elbow Connector 199">
            <a:extLst>
              <a:ext uri="{FF2B5EF4-FFF2-40B4-BE49-F238E27FC236}">
                <a16:creationId xmlns:a16="http://schemas.microsoft.com/office/drawing/2014/main" id="{AFD75A17-D0BF-5AC2-5C59-DCC88FF2277A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36870" y="4574948"/>
            <a:ext cx="660087" cy="154565"/>
          </a:xfrm>
          <a:prstGeom prst="bentConnector3">
            <a:avLst>
              <a:gd name="adj1" fmla="val 9957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2255D725-9D59-B172-6856-3D64D52D503F}"/>
              </a:ext>
            </a:extLst>
          </p:cNvPr>
          <p:cNvSpPr txBox="1"/>
          <p:nvPr/>
        </p:nvSpPr>
        <p:spPr>
          <a:xfrm>
            <a:off x="10359784" y="4025665"/>
            <a:ext cx="6896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psum</a:t>
            </a:r>
            <a:endParaRPr lang="en-US" sz="1600" dirty="0"/>
          </a:p>
        </p:txBody>
      </p:sp>
      <p:cxnSp>
        <p:nvCxnSpPr>
          <p:cNvPr id="210" name="Elbow Connector 209">
            <a:extLst>
              <a:ext uri="{FF2B5EF4-FFF2-40B4-BE49-F238E27FC236}">
                <a16:creationId xmlns:a16="http://schemas.microsoft.com/office/drawing/2014/main" id="{5049C218-0C4B-ABC3-9024-FBBD17724E59}"/>
              </a:ext>
            </a:extLst>
          </p:cNvPr>
          <p:cNvCxnSpPr>
            <a:cxnSpLocks/>
          </p:cNvCxnSpPr>
          <p:nvPr/>
        </p:nvCxnSpPr>
        <p:spPr>
          <a:xfrm>
            <a:off x="11082204" y="5088153"/>
            <a:ext cx="373692" cy="65753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7445B73B-E5DF-9F43-D332-6CDDB5ABEBF0}"/>
              </a:ext>
            </a:extLst>
          </p:cNvPr>
          <p:cNvSpPr txBox="1"/>
          <p:nvPr/>
        </p:nvSpPr>
        <p:spPr>
          <a:xfrm>
            <a:off x="11313407" y="567755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14" name="Rounded Rectangle 213">
            <a:extLst>
              <a:ext uri="{FF2B5EF4-FFF2-40B4-BE49-F238E27FC236}">
                <a16:creationId xmlns:a16="http://schemas.microsoft.com/office/drawing/2014/main" id="{6021D3AD-F365-C9BB-9CE3-14DB6B685DF8}"/>
              </a:ext>
            </a:extLst>
          </p:cNvPr>
          <p:cNvSpPr/>
          <p:nvPr/>
        </p:nvSpPr>
        <p:spPr>
          <a:xfrm>
            <a:off x="7497423" y="2300818"/>
            <a:ext cx="4422591" cy="3746070"/>
          </a:xfrm>
          <a:prstGeom prst="roundRect">
            <a:avLst>
              <a:gd name="adj" fmla="val 1026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5E6163D4-59E7-2F9C-49CE-5538E254E832}"/>
              </a:ext>
            </a:extLst>
          </p:cNvPr>
          <p:cNvCxnSpPr>
            <a:cxnSpLocks/>
          </p:cNvCxnSpPr>
          <p:nvPr/>
        </p:nvCxnSpPr>
        <p:spPr>
          <a:xfrm flipV="1">
            <a:off x="6060617" y="2411044"/>
            <a:ext cx="1547341" cy="1021193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205883F3-36C9-2FCD-F7BD-7B6BA530DB7F}"/>
              </a:ext>
            </a:extLst>
          </p:cNvPr>
          <p:cNvCxnSpPr>
            <a:cxnSpLocks/>
          </p:cNvCxnSpPr>
          <p:nvPr/>
        </p:nvCxnSpPr>
        <p:spPr>
          <a:xfrm>
            <a:off x="6075964" y="3950190"/>
            <a:ext cx="1453771" cy="1869912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Rounded Rectangle 219">
            <a:extLst>
              <a:ext uri="{FF2B5EF4-FFF2-40B4-BE49-F238E27FC236}">
                <a16:creationId xmlns:a16="http://schemas.microsoft.com/office/drawing/2014/main" id="{CDCFD39E-18B4-4368-FC2F-DB0ED7312911}"/>
              </a:ext>
            </a:extLst>
          </p:cNvPr>
          <p:cNvSpPr/>
          <p:nvPr/>
        </p:nvSpPr>
        <p:spPr>
          <a:xfrm>
            <a:off x="302795" y="3206095"/>
            <a:ext cx="2907559" cy="1869122"/>
          </a:xfrm>
          <a:prstGeom prst="roundRect">
            <a:avLst>
              <a:gd name="adj" fmla="val 1026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4EE94B35-EB09-7906-3BEC-194E027F9B16}"/>
              </a:ext>
            </a:extLst>
          </p:cNvPr>
          <p:cNvSpPr/>
          <p:nvPr/>
        </p:nvSpPr>
        <p:spPr>
          <a:xfrm>
            <a:off x="1855544" y="3569953"/>
            <a:ext cx="1217297" cy="1140067"/>
          </a:xfrm>
          <a:prstGeom prst="roundRect">
            <a:avLst>
              <a:gd name="adj" fmla="val 1026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Array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E2EADAF1-2027-9506-0298-77E0642F55B9}"/>
              </a:ext>
            </a:extLst>
          </p:cNvPr>
          <p:cNvSpPr txBox="1"/>
          <p:nvPr/>
        </p:nvSpPr>
        <p:spPr>
          <a:xfrm>
            <a:off x="350967" y="3697411"/>
            <a:ext cx="118551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Control</a:t>
            </a:r>
          </a:p>
          <a:p>
            <a:pPr algn="ctr"/>
            <a:r>
              <a:rPr lang="en-US" sz="2400" dirty="0"/>
              <a:t>Logic</a:t>
            </a:r>
          </a:p>
        </p:txBody>
      </p:sp>
      <p:sp>
        <p:nvSpPr>
          <p:cNvPr id="224" name="Right Arrow 223">
            <a:extLst>
              <a:ext uri="{FF2B5EF4-FFF2-40B4-BE49-F238E27FC236}">
                <a16:creationId xmlns:a16="http://schemas.microsoft.com/office/drawing/2014/main" id="{7E5DB0C0-3511-69F6-6A05-117991AF8A91}"/>
              </a:ext>
            </a:extLst>
          </p:cNvPr>
          <p:cNvSpPr/>
          <p:nvPr/>
        </p:nvSpPr>
        <p:spPr>
          <a:xfrm>
            <a:off x="1567252" y="4047653"/>
            <a:ext cx="236534" cy="184666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" name="Rounded Rectangle 224">
            <a:extLst>
              <a:ext uri="{FF2B5EF4-FFF2-40B4-BE49-F238E27FC236}">
                <a16:creationId xmlns:a16="http://schemas.microsoft.com/office/drawing/2014/main" id="{7509CC92-BD9D-2432-53CC-2C559ABD6EA2}"/>
              </a:ext>
            </a:extLst>
          </p:cNvPr>
          <p:cNvSpPr/>
          <p:nvPr/>
        </p:nvSpPr>
        <p:spPr>
          <a:xfrm>
            <a:off x="3855863" y="2810280"/>
            <a:ext cx="2591029" cy="2773970"/>
          </a:xfrm>
          <a:prstGeom prst="roundRect">
            <a:avLst>
              <a:gd name="adj" fmla="val 1026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461DC01D-25EE-1A84-2831-F6FD05EEC76C}"/>
              </a:ext>
            </a:extLst>
          </p:cNvPr>
          <p:cNvCxnSpPr>
            <a:cxnSpLocks/>
          </p:cNvCxnSpPr>
          <p:nvPr/>
        </p:nvCxnSpPr>
        <p:spPr>
          <a:xfrm flipV="1">
            <a:off x="2996868" y="2880738"/>
            <a:ext cx="913415" cy="695719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32982C7B-ACD5-349D-1300-B00382922047}"/>
              </a:ext>
            </a:extLst>
          </p:cNvPr>
          <p:cNvCxnSpPr>
            <a:cxnSpLocks/>
          </p:cNvCxnSpPr>
          <p:nvPr/>
        </p:nvCxnSpPr>
        <p:spPr>
          <a:xfrm>
            <a:off x="2988621" y="4710020"/>
            <a:ext cx="956333" cy="830225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TextBox 234">
            <a:extLst>
              <a:ext uri="{FF2B5EF4-FFF2-40B4-BE49-F238E27FC236}">
                <a16:creationId xmlns:a16="http://schemas.microsoft.com/office/drawing/2014/main" id="{E3BD8753-8676-EB13-E1A3-D73A9E665E97}"/>
              </a:ext>
            </a:extLst>
          </p:cNvPr>
          <p:cNvSpPr txBox="1"/>
          <p:nvPr/>
        </p:nvSpPr>
        <p:spPr>
          <a:xfrm>
            <a:off x="1072678" y="5234495"/>
            <a:ext cx="1111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systolic.v</a:t>
            </a:r>
            <a:endParaRPr lang="en-US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ADB9BB31-B435-3264-14AB-D0E5D5E58E89}"/>
              </a:ext>
            </a:extLst>
          </p:cNvPr>
          <p:cNvSpPr txBox="1"/>
          <p:nvPr/>
        </p:nvSpPr>
        <p:spPr>
          <a:xfrm>
            <a:off x="4494461" y="5677556"/>
            <a:ext cx="1303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Array_2x2.v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FAF4DA19-5CEB-02B9-A7E7-329E17B24B0B}"/>
              </a:ext>
            </a:extLst>
          </p:cNvPr>
          <p:cNvSpPr txBox="1"/>
          <p:nvPr/>
        </p:nvSpPr>
        <p:spPr>
          <a:xfrm>
            <a:off x="9463846" y="6090504"/>
            <a:ext cx="582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pe.v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9D2930-079A-4542-50EB-8E75D93FDC3F}"/>
              </a:ext>
            </a:extLst>
          </p:cNvPr>
          <p:cNvSpPr txBox="1"/>
          <p:nvPr/>
        </p:nvSpPr>
        <p:spPr>
          <a:xfrm>
            <a:off x="302795" y="6379259"/>
            <a:ext cx="79407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Fig. </a:t>
            </a:r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2x2 systolic PE array architecture (a) Top module (b) 2x2 PE array (c) PE logic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280F8B-4E00-4417-0BEE-979DE3F541A5}"/>
              </a:ext>
            </a:extLst>
          </p:cNvPr>
          <p:cNvSpPr txBox="1"/>
          <p:nvPr/>
        </p:nvSpPr>
        <p:spPr>
          <a:xfrm>
            <a:off x="302794" y="3225802"/>
            <a:ext cx="6431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AC7ED7-CEDA-5072-B54C-F79CBB596748}"/>
              </a:ext>
            </a:extLst>
          </p:cNvPr>
          <p:cNvSpPr txBox="1"/>
          <p:nvPr/>
        </p:nvSpPr>
        <p:spPr>
          <a:xfrm>
            <a:off x="3877410" y="2846498"/>
            <a:ext cx="6431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7B2E24-60B4-DBCB-FA95-6C925B888002}"/>
              </a:ext>
            </a:extLst>
          </p:cNvPr>
          <p:cNvSpPr txBox="1"/>
          <p:nvPr/>
        </p:nvSpPr>
        <p:spPr>
          <a:xfrm>
            <a:off x="7599039" y="2332411"/>
            <a:ext cx="6431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1333D0-A775-0FDE-51AD-1A96E8E75824}"/>
              </a:ext>
            </a:extLst>
          </p:cNvPr>
          <p:cNvSpPr txBox="1"/>
          <p:nvPr/>
        </p:nvSpPr>
        <p:spPr>
          <a:xfrm>
            <a:off x="9808266" y="3211185"/>
            <a:ext cx="5084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1     0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214A4B-1B6A-D65B-6FD7-438C5B6065C7}"/>
              </a:ext>
            </a:extLst>
          </p:cNvPr>
          <p:cNvSpPr txBox="1"/>
          <p:nvPr/>
        </p:nvSpPr>
        <p:spPr>
          <a:xfrm>
            <a:off x="8766616" y="3204550"/>
            <a:ext cx="5405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0      1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3809A3-D45A-2D24-A008-45950A23DAA4}"/>
              </a:ext>
            </a:extLst>
          </p:cNvPr>
          <p:cNvSpPr txBox="1"/>
          <p:nvPr/>
        </p:nvSpPr>
        <p:spPr>
          <a:xfrm>
            <a:off x="9278425" y="4691975"/>
            <a:ext cx="5405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0      1</a:t>
            </a:r>
          </a:p>
        </p:txBody>
      </p:sp>
    </p:spTree>
    <p:extLst>
      <p:ext uri="{BB962C8B-B14F-4D97-AF65-F5344CB8AC3E}">
        <p14:creationId xmlns:p14="http://schemas.microsoft.com/office/powerpoint/2010/main" val="2310559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DC47D646-1A37-3AE3-DC79-7D789D8C2E54}"/>
              </a:ext>
            </a:extLst>
          </p:cNvPr>
          <p:cNvSpPr txBox="1"/>
          <p:nvPr/>
        </p:nvSpPr>
        <p:spPr>
          <a:xfrm>
            <a:off x="151714" y="807888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Result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96EBBF-5880-91A2-C3D6-00CACFE0F86C}"/>
              </a:ext>
            </a:extLst>
          </p:cNvPr>
          <p:cNvSpPr txBox="1"/>
          <p:nvPr/>
        </p:nvSpPr>
        <p:spPr>
          <a:xfrm>
            <a:off x="248654" y="6401239"/>
            <a:ext cx="60846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Fig. 2. Waveform (a) With double buffer (b) Without double buffer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FD6A63-5FCA-ED34-8796-D5BECEFCAAF4}"/>
              </a:ext>
            </a:extLst>
          </p:cNvPr>
          <p:cNvSpPr txBox="1"/>
          <p:nvPr/>
        </p:nvSpPr>
        <p:spPr>
          <a:xfrm>
            <a:off x="7278531" y="1200138"/>
            <a:ext cx="3226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Throughput Improvement: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993C5C-17FE-5965-A358-943787F60984}"/>
              </a:ext>
            </a:extLst>
          </p:cNvPr>
          <p:cNvSpPr txBox="1"/>
          <p:nvPr/>
        </p:nvSpPr>
        <p:spPr>
          <a:xfrm>
            <a:off x="401781" y="1287368"/>
            <a:ext cx="1127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Testcase: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6CE6404-377B-7897-B6C3-1DB9F008D67F}"/>
                  </a:ext>
                </a:extLst>
              </p:cNvPr>
              <p:cNvSpPr txBox="1"/>
              <p:nvPr/>
            </p:nvSpPr>
            <p:spPr>
              <a:xfrm>
                <a:off x="1087615" y="1829450"/>
                <a:ext cx="1600438" cy="4675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6CE6404-377B-7897-B6C3-1DB9F008D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615" y="1829450"/>
                <a:ext cx="1600438" cy="467500"/>
              </a:xfrm>
              <a:prstGeom prst="rect">
                <a:avLst/>
              </a:prstGeom>
              <a:blipFill>
                <a:blip r:embed="rId3"/>
                <a:stretch>
                  <a:fillRect b="-2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3927EF62-6C37-0ED1-653A-EF7AF8AC6402}"/>
              </a:ext>
            </a:extLst>
          </p:cNvPr>
          <p:cNvSpPr txBox="1"/>
          <p:nvPr/>
        </p:nvSpPr>
        <p:spPr>
          <a:xfrm>
            <a:off x="401781" y="1878534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Op1: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220756-BE95-D852-F64C-E2EBFB8B1354}"/>
                  </a:ext>
                </a:extLst>
              </p:cNvPr>
              <p:cNvSpPr txBox="1"/>
              <p:nvPr/>
            </p:nvSpPr>
            <p:spPr>
              <a:xfrm>
                <a:off x="1087615" y="2460982"/>
                <a:ext cx="1600438" cy="4619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220756-BE95-D852-F64C-E2EBFB8B1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615" y="2460982"/>
                <a:ext cx="1600438" cy="461986"/>
              </a:xfrm>
              <a:prstGeom prst="rect">
                <a:avLst/>
              </a:prstGeom>
              <a:blipFill>
                <a:blip r:embed="rId4"/>
                <a:stretch>
                  <a:fillRect t="-2703"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5CB271A0-5975-2BB3-3E80-3AB6E8AB40A2}"/>
              </a:ext>
            </a:extLst>
          </p:cNvPr>
          <p:cNvSpPr txBox="1"/>
          <p:nvPr/>
        </p:nvSpPr>
        <p:spPr>
          <a:xfrm>
            <a:off x="401781" y="2510066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Op2: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A54583-8557-7763-E2A6-C0CDD168D872}"/>
              </a:ext>
            </a:extLst>
          </p:cNvPr>
          <p:cNvSpPr txBox="1"/>
          <p:nvPr/>
        </p:nvSpPr>
        <p:spPr>
          <a:xfrm>
            <a:off x="2909454" y="1287368"/>
            <a:ext cx="1180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Expected: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51B95FA-4C2E-AE4D-EC27-E2B6A89F6107}"/>
                  </a:ext>
                </a:extLst>
              </p:cNvPr>
              <p:cNvSpPr txBox="1"/>
              <p:nvPr/>
            </p:nvSpPr>
            <p:spPr>
              <a:xfrm>
                <a:off x="2867543" y="1786073"/>
                <a:ext cx="1149927" cy="5542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43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51B95FA-4C2E-AE4D-EC27-E2B6A89F6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7543" y="1786073"/>
                <a:ext cx="1149927" cy="554254"/>
              </a:xfrm>
              <a:prstGeom prst="rect">
                <a:avLst/>
              </a:prstGeom>
              <a:blipFill>
                <a:blip r:embed="rId5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80F11B2-A832-A549-B61C-543EAEA073C5}"/>
                  </a:ext>
                </a:extLst>
              </p:cNvPr>
              <p:cNvSpPr txBox="1"/>
              <p:nvPr/>
            </p:nvSpPr>
            <p:spPr>
              <a:xfrm>
                <a:off x="2735833" y="2414815"/>
                <a:ext cx="1149927" cy="5543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80F11B2-A832-A549-B61C-543EAEA073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5833" y="2414815"/>
                <a:ext cx="1149927" cy="554319"/>
              </a:xfrm>
              <a:prstGeom prst="rect">
                <a:avLst/>
              </a:prstGeom>
              <a:blipFill>
                <a:blip r:embed="rId6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28E2EE5F-5E7C-D96E-9B2A-1C6C0182AA39}"/>
              </a:ext>
            </a:extLst>
          </p:cNvPr>
          <p:cNvSpPr txBox="1"/>
          <p:nvPr/>
        </p:nvSpPr>
        <p:spPr>
          <a:xfrm>
            <a:off x="4310498" y="1205519"/>
            <a:ext cx="13697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Functional Result: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1515F9-83A0-5998-771A-A66F0F55CE5C}"/>
              </a:ext>
            </a:extLst>
          </p:cNvPr>
          <p:cNvSpPr txBox="1"/>
          <p:nvPr/>
        </p:nvSpPr>
        <p:spPr>
          <a:xfrm>
            <a:off x="4417212" y="1892879"/>
            <a:ext cx="701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E8A9E2B-E134-546B-8924-FA3734F1FE54}"/>
              </a:ext>
            </a:extLst>
          </p:cNvPr>
          <p:cNvSpPr txBox="1"/>
          <p:nvPr/>
        </p:nvSpPr>
        <p:spPr>
          <a:xfrm>
            <a:off x="4417211" y="2507387"/>
            <a:ext cx="701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92BC30E-9189-8963-609C-ADAC23029721}"/>
                  </a:ext>
                </a:extLst>
              </p:cNvPr>
              <p:cNvSpPr txBox="1"/>
              <p:nvPr/>
            </p:nvSpPr>
            <p:spPr>
              <a:xfrm>
                <a:off x="7278532" y="1782644"/>
                <a:ext cx="4681906" cy="2031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With double buffering, the systolic array achieves a throughput</a:t>
                </a:r>
                <a:r>
                  <a:rPr lang="zh-CN" altLang="en-US" dirty="0"/>
                  <a:t> </a:t>
                </a:r>
                <a:r>
                  <a:rPr lang="en-US" dirty="0"/>
                  <a:t>= 2/5 = 0.4 ops/cycle,</a:t>
                </a:r>
              </a:p>
              <a:p>
                <a:endParaRPr lang="en-US" dirty="0"/>
              </a:p>
              <a:p>
                <a:r>
                  <a:rPr lang="en-US" dirty="0"/>
                  <a:t>compared to without double buffering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achieves</a:t>
                </a:r>
                <a:r>
                  <a:rPr lang="en-US" dirty="0"/>
                  <a:t> a throughput = 2/8 = 0.25 ops/cycle, </a:t>
                </a:r>
              </a:p>
              <a:p>
                <a:endParaRPr lang="en-US" dirty="0"/>
              </a:p>
              <a:p>
                <a:r>
                  <a:rPr lang="en-US" dirty="0"/>
                  <a:t>yielding a </a:t>
                </a:r>
                <a:r>
                  <a:rPr lang="en-US" altLang="zh-CN" dirty="0"/>
                  <a:t>1.6</a:t>
                </a:r>
                <a14:m>
                  <m:oMath xmlns:m="http://schemas.openxmlformats.org/officeDocument/2006/math">
                    <m:r>
                      <a:rPr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zh-CN" altLang="en-US" dirty="0"/>
                  <a:t> </a:t>
                </a:r>
                <a:r>
                  <a:rPr lang="en-US" dirty="0"/>
                  <a:t>improvement.</a:t>
                </a: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92BC30E-9189-8963-609C-ADAC23029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532" y="1782644"/>
                <a:ext cx="4681906" cy="2031325"/>
              </a:xfrm>
              <a:prstGeom prst="rect">
                <a:avLst/>
              </a:prstGeom>
              <a:blipFill>
                <a:blip r:embed="rId7"/>
                <a:stretch>
                  <a:fillRect l="-1084" t="-1242" r="-542" b="-3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E846397A-D6E6-99CD-0A2C-D542722EC938}"/>
              </a:ext>
            </a:extLst>
          </p:cNvPr>
          <p:cNvSpPr txBox="1"/>
          <p:nvPr/>
        </p:nvSpPr>
        <p:spPr>
          <a:xfrm>
            <a:off x="144208" y="163746"/>
            <a:ext cx="8317569" cy="559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800" kern="1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Demo for the 2x2 Systolic Array with Double Buffer </a:t>
            </a:r>
            <a:endParaRPr lang="en-US" sz="28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ED12BBE-99A1-D03D-5DBA-354196C7486E}"/>
              </a:ext>
            </a:extLst>
          </p:cNvPr>
          <p:cNvGrpSpPr/>
          <p:nvPr/>
        </p:nvGrpSpPr>
        <p:grpSpPr>
          <a:xfrm>
            <a:off x="231562" y="3068837"/>
            <a:ext cx="6787270" cy="3283318"/>
            <a:chOff x="1179780" y="1078880"/>
            <a:chExt cx="6787270" cy="3283318"/>
          </a:xfrm>
        </p:grpSpPr>
        <p:pic>
          <p:nvPicPr>
            <p:cNvPr id="4" name="Picture 3" descr="A screenshot of a video game&#10;&#10;AI-generated content may be incorrect.">
              <a:extLst>
                <a:ext uri="{FF2B5EF4-FFF2-40B4-BE49-F238E27FC236}">
                  <a16:creationId xmlns:a16="http://schemas.microsoft.com/office/drawing/2014/main" id="{20E99065-E737-A660-9ED7-4C061B853E7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r="83631"/>
            <a:stretch>
              <a:fillRect/>
            </a:stretch>
          </p:blipFill>
          <p:spPr>
            <a:xfrm>
              <a:off x="1179780" y="2749298"/>
              <a:ext cx="848196" cy="1612900"/>
            </a:xfrm>
            <a:prstGeom prst="rect">
              <a:avLst/>
            </a:prstGeom>
          </p:spPr>
        </p:pic>
        <p:pic>
          <p:nvPicPr>
            <p:cNvPr id="5" name="Picture 4" descr="A screenshot of a video game&#10;&#10;AI-generated content may be incorrect.">
              <a:extLst>
                <a:ext uri="{FF2B5EF4-FFF2-40B4-BE49-F238E27FC236}">
                  <a16:creationId xmlns:a16="http://schemas.microsoft.com/office/drawing/2014/main" id="{AAC6E98D-52B3-86BA-8A1F-356AE288FAB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6574"/>
            <a:stretch>
              <a:fillRect/>
            </a:stretch>
          </p:blipFill>
          <p:spPr>
            <a:xfrm>
              <a:off x="2027976" y="2749298"/>
              <a:ext cx="5939074" cy="1612900"/>
            </a:xfrm>
            <a:prstGeom prst="rect">
              <a:avLst/>
            </a:prstGeom>
          </p:spPr>
        </p:pic>
        <p:pic>
          <p:nvPicPr>
            <p:cNvPr id="6" name="Picture 5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316DE3B6-E6CF-AEF7-9C6A-AFE563EBB91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r="2089"/>
            <a:stretch>
              <a:fillRect/>
            </a:stretch>
          </p:blipFill>
          <p:spPr>
            <a:xfrm>
              <a:off x="1179780" y="1149098"/>
              <a:ext cx="6787270" cy="1600200"/>
            </a:xfrm>
            <a:prstGeom prst="rect">
              <a:avLst/>
            </a:prstGeom>
          </p:spPr>
        </p:pic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D115FED-B9DF-3AD6-03AE-404E097A7C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60763" y="1149098"/>
              <a:ext cx="0" cy="321310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5FCE287-1774-C787-5E8A-5A3A36861E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3757" y="1142748"/>
              <a:ext cx="0" cy="160655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8C4E17-F30F-14BC-EB3E-EAA1169373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62728" y="2749298"/>
              <a:ext cx="0" cy="160655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742D8A-E629-FB9A-E775-3B5475327E2D}"/>
                </a:ext>
              </a:extLst>
            </p:cNvPr>
            <p:cNvSpPr txBox="1"/>
            <p:nvPr/>
          </p:nvSpPr>
          <p:spPr>
            <a:xfrm rot="5400000">
              <a:off x="4980518" y="1875389"/>
              <a:ext cx="11721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Op1 finished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018626-0FFF-8541-1A9F-82ADB5A67BF7}"/>
                </a:ext>
              </a:extLst>
            </p:cNvPr>
            <p:cNvSpPr txBox="1"/>
            <p:nvPr/>
          </p:nvSpPr>
          <p:spPr>
            <a:xfrm rot="5400000">
              <a:off x="6387549" y="1875389"/>
              <a:ext cx="11721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Op2 finished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506727-E4DC-65CB-DAB3-1388CEDD0977}"/>
                </a:ext>
              </a:extLst>
            </p:cNvPr>
            <p:cNvSpPr txBox="1"/>
            <p:nvPr/>
          </p:nvSpPr>
          <p:spPr>
            <a:xfrm rot="5400000">
              <a:off x="4980517" y="3368757"/>
              <a:ext cx="11721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Op1 finished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2DE7110-7BA8-2D50-ED99-06DF55F4A002}"/>
                </a:ext>
              </a:extLst>
            </p:cNvPr>
            <p:cNvSpPr txBox="1"/>
            <p:nvPr/>
          </p:nvSpPr>
          <p:spPr>
            <a:xfrm rot="5400000">
              <a:off x="7203065" y="3368757"/>
              <a:ext cx="11721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Op2 finished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E3BB1B5-D941-B1CC-8C17-22AFA8AB9A2F}"/>
                </a:ext>
              </a:extLst>
            </p:cNvPr>
            <p:cNvCxnSpPr/>
            <p:nvPr/>
          </p:nvCxnSpPr>
          <p:spPr>
            <a:xfrm>
              <a:off x="5469309" y="1204956"/>
              <a:ext cx="1358955" cy="0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8A2CB2D-DBEA-ED11-F06F-7E08EEF54E72}"/>
                </a:ext>
              </a:extLst>
            </p:cNvPr>
            <p:cNvSpPr txBox="1"/>
            <p:nvPr/>
          </p:nvSpPr>
          <p:spPr>
            <a:xfrm>
              <a:off x="4935079" y="1078880"/>
              <a:ext cx="58644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5 </a:t>
              </a:r>
              <a:r>
                <a:rPr lang="en-US" sz="1400" dirty="0" err="1">
                  <a:solidFill>
                    <a:srgbClr val="FF0000"/>
                  </a:solidFill>
                </a:rPr>
                <a:t>cyc</a:t>
              </a:r>
              <a:endParaRPr 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FAEA79B-06F7-ED69-0397-9CFE2E51F759}"/>
                </a:ext>
              </a:extLst>
            </p:cNvPr>
            <p:cNvSpPr txBox="1"/>
            <p:nvPr/>
          </p:nvSpPr>
          <p:spPr>
            <a:xfrm>
              <a:off x="4935078" y="2691639"/>
              <a:ext cx="58644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8 </a:t>
              </a:r>
              <a:r>
                <a:rPr lang="en-US" sz="1400" dirty="0" err="1">
                  <a:solidFill>
                    <a:srgbClr val="FF0000"/>
                  </a:solidFill>
                </a:rPr>
                <a:t>cyc</a:t>
              </a:r>
              <a:endParaRPr 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6EC3C52-30FC-F881-76DE-EF995DCB2885}"/>
                </a:ext>
              </a:extLst>
            </p:cNvPr>
            <p:cNvSpPr/>
            <p:nvPr/>
          </p:nvSpPr>
          <p:spPr>
            <a:xfrm>
              <a:off x="3410969" y="1905712"/>
              <a:ext cx="1409363" cy="581546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242D6BD-04B4-7A57-99DF-E2D048077BA3}"/>
                </a:ext>
              </a:extLst>
            </p:cNvPr>
            <p:cNvSpPr txBox="1"/>
            <p:nvPr/>
          </p:nvSpPr>
          <p:spPr>
            <a:xfrm>
              <a:off x="2224589" y="1824012"/>
              <a:ext cx="127350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00B0F0"/>
                  </a:solidFill>
                </a:rPr>
                <a:t>Loading next weight matrix during Op1 computation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9473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</TotalTime>
  <Words>227</Words>
  <Application>Microsoft Macintosh PowerPoint</Application>
  <PresentationFormat>Widescreen</PresentationFormat>
  <Paragraphs>69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Wingdings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Tian, Runyang</dc:creator>
  <cp:lastModifiedBy>Tian, Runyang</cp:lastModifiedBy>
  <cp:revision>9</cp:revision>
  <dcterms:created xsi:type="dcterms:W3CDTF">2026-03-02T09:33:32Z</dcterms:created>
  <dcterms:modified xsi:type="dcterms:W3CDTF">2026-03-03T02:22:27Z</dcterms:modified>
</cp:coreProperties>
</file>